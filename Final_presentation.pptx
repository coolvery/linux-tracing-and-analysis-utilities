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588" y="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5474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Поприветствовать аудиторию, представиться.
- Назвать тему: четыре инструмента трассировки в Linux — strace, ltrace, perf, lft.
- Анонсировать структуру: концепция трассировки → четыре инструмента с примерами C-кода и реального вывода → когда какой применять.
- Подчеркнуть формат: практический разбор, все демонстрации на живых примерах.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Объяснить идею: трассировка — динамическое наблюдение за работающей программой в момент возникновения событий.
- Перечислить четыре уровня наблюдения: библиотечные вызовы (ltrace), граница «программа — ядро» (strace), профилирование времени (perf), транспортный уровень и порты (lft).
- Связать уровни с жизненными проблемами: зависание, утечка памяти, медленная работа, «молчащий» порт.
- Подчеркнуть: трассировка отвечает на вопрос «что происходит прямо сейчас», не останавливая программу.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Кратко пройтись по четырём инструментам: strace — системные вызовы и сигналы; ltrace — библиотечные функции внутри программы; perf — семплирование, какая функция занимает процессор; lft — traceroute на транспортном уровне TCP/UDP.
- Подчеркнуть: это четыре разные «точки наблюдения» за одной и той же программой.
- Анонсировать: дальше каждый инструмент разобран на реальных примерах — с C-кодом и живым выводом команд.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Представить strace: показывает границу между программой и ядром — все системные вызовы и сигналы процесса.
- Пример a: программа открывает три файла разными способами — open, openat, fopen.
- Файл /dsds не существует, /etc/os-release и /etc/hosts — реальные; смотрим, какие системные вызовы выполнит программа после запуска.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Пояснить фильтр: -e trace=openat оставляет в выводе только openat, без шума остальных вызовов.
- Первые две строки — библиотеки проверяют кэш (/etc/ld.so.cache, libc.so.6).
- Успешным открытиям достаётся дескриптор 3: первые три (0–2) заняты stdin, stdout, stderr.
- Ошибка: /dsds → код -1, причина ENOENT «Нет такого файла или каталога» — strace сразу показывает, почему файл не открылся.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Программа ждёт ввода в read — со стороны это выглядит как зависание.
- Идея: подключиться к процессу снаружи, не перезапуская и не останавливая его.
- Разобрать флаги: -p — attach к работающему PID через pidof; -tt — точное время каждого вызова; -T — длительность каждого вызова.
- Сценарий: первая консоль — запущенная программа, вторая — sudo strace -p $(pidof main) -tt -T.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Драматургия: пока программа ждёт ввод, в трассе только подключение strace и «зависший» read(0, — больше ничего не происходит.
- После ввода «Hey» трасса оживает: видны все вызовы с точным временем (-tt) и длительностью (-T).
- Ключевой момент: read блокировался 70 секунд (&lt;70.097927&gt;) — вот источник «зависания».
- Последовательности \320… — это записанные printf русские слова («Получено», «Готово») в UTF-8.
- exit_group(0) и +++ exited with 0 +++ — штатное завершение процесса.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В коде три разных типа нагрузки: вывод printf ×100, файловые проверки access ×50, паузы usleep ×5 по 100 мс.
- Программа «подвисает» — цель: узнать, какие вызовы и сколько времени съедают.
- strace -c не печатает каждый вызов, а собирает сводную статистику: количество, время, проценты.
- В таблице на следующем слайде смотрим колонки % time / calls /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Читаем таблицу сверху вниз: ключевые колонки — % time, calls, errors.
- write — 41,32 % времени и 101 вызов: это наш printf из цикла.
- clock_nanosleep — пять usleep по 100 мс.
- Обратить внимание: у access одна ошибка в колонке errors; всего 183 вызова.
- Итог: суммарно 0,007210 c — важно распределение времени, а не только сумма.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ltrace видит уровень ДО системных вызовов — библиотечные функции внутри программы.
- Инструмент показывает malloc, free, strcpy, printf, pthread_create, SSL_read.
- В коде намеренно: одна пара malloc(100)/free и один malloc(200) без пары.
- Данные: a = "hello" (100 байт), b = "утечка" (200 байт).
- Подозрение на утечку проверим трассировкой на следующем слайде.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Флаг -e malloc+free — фильтр: трассируем только эти две функции.
- ltrace показывает адреса выделенных областей (0x55d48bba…): по парам «malloc — free» видно, что освободилось.
- &lt;void&gt; после free — память освободилась.
- Строки a = "hello" и b = "утечка" — это вывод printf программы, он идёт вперемешку с трассой.
- malloc(200) остался без парного free, процесс завершился со status 0 — утечка памяти подтверждена.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perf работает семплированием: периодически «подглядывает» за процессором и записывает, какая функция выполняется прямо сейчас.
- hot_function — 100 000 000 итераций sin(i)*cos(i); cold_function — 5 000 000 итераций, в 10 раз меньше.
- main вызывает обе функции по 5 раз — разница нагрузки преднамеренная.
- Вопрос примера: какая функция «горячая», то есть забирает больше всего времени.
- Далее снимем профиль: perf record -g и perf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perf record собирает профиль семплированием, perf report показывает сводку по функциям.
- hot_function — в топе: «горячая» функция видна сразу; cold_function внизу с 1,09%.
- Строки [k] — ядро, [.] — пользовательский код; адреса в libm — математика из hot_function.
- Children — время функции вместе со всем, что она вызывала; Self — только собственные циклы и условия.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lft работает не только на IP-уровне, как классический traceroute, но и с TCP/UDP-портами напрямую.
- Сценарий: запустили собственный сервер и хотим узнать, какие порты он прослушивает.
- В коде: функция serve() слушает порт и отвечает 200 OK; отдельный поток на 8080 и прямой вызов serve(9090).
- Дальше проверим два открытых порта (8080, 9090) и один закрытый (80).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-T — TCP-режим трассировки, -d — номер порта назначения.
- Порты 8080 и 9090: [target open] — сервер их слушает, отвечаем быстро (0.51s / 0.26s).
- Порт 80: [target closed] — хост отвечает, но соединение отклонено.
- Ключевой вывод: lft получил ответ именно от порта, а не просто от хоста.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Связываем примеры презентации с типовыми рабочими ситуациями.
- strace: зависшие процессы (strace -p), файлы и конфиги (openat, ENOENT/EACCES), статистика времени (-c), диагностика окружения (библиотеки, пути).
- ltrace: утечки памяти (пары malloc/free), отладка логики и сторонних библиотек, аргументы и возвращаемые значения в трассе.
- Общая идея: смотреть за живым процессом быстрее, чем гадать по исходному коду.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perf: медленная программа, оптимизация (Children vs Self), виновник — приложение или ядро ([.]/[k]), сравнение профиля до и после изменений.
- lft: открытые порты сервера, маршрут на TCP/UDP, проверка firewall, доступность сервиса до подключения клиента.
- Связь с примерами: hot_function и perf report — это про perf; три трассировки портов — про lft.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Резюме одним предложением: ltrace — внутри программы, strace — граница с ядром, perf — время CPU, lft — сеть и порты.
- Прочитать шпаргалку: зависает → strace -p; течёт память → ltrace malloc/free; тормозит → perf record + report; порт молчит → lft.
- Финальная мысль: наблюдение за живой программой быстрее, чем гадание по исходному коду.
- Поблагодарить аудиторию и перейти к вопросам.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12274" y="1196713"/>
            <a:ext cx="5181219" cy="2777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0"/>
              </a:lnSpc>
              <a:buNone/>
            </a:pPr>
            <a:r>
              <a:rPr lang="en-US" sz="22500" b="1" kern="0" spc="-1350" dirty="0">
                <a:solidFill>
                  <a:srgbClr val="E5E7EB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04</a:t>
            </a:r>
            <a:endParaRPr lang="en-US" sz="22500" dirty="0"/>
          </a:p>
        </p:txBody>
      </p:sp>
      <p:sp>
        <p:nvSpPr>
          <p:cNvPr id="3" name="Text 1"/>
          <p:cNvSpPr/>
          <p:nvPr/>
        </p:nvSpPr>
        <p:spPr>
          <a:xfrm>
            <a:off x="457200" y="495598"/>
            <a:ext cx="57150" cy="57150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0075" y="457200"/>
            <a:ext cx="80867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00" kern="0" spc="239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ДЕМОНСТРАЦИЯ ПРОЕКТА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05445"/>
            <a:ext cx="8229600" cy="7144"/>
          </a:xfrm>
          <a:prstGeom prst="rect">
            <a:avLst/>
          </a:prstGeom>
          <a:solidFill>
            <a:srgbClr val="D1D5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1253282"/>
            <a:ext cx="6600825" cy="1867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40"/>
              </a:lnSpc>
              <a:buNone/>
            </a:pPr>
            <a:r>
              <a:rPr lang="en-US" sz="4633" b="1" kern="0" spc="-116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Инструменты</a:t>
            </a:r>
            <a:endParaRPr lang="en-US" sz="4633" dirty="0"/>
          </a:p>
          <a:p>
            <a:pPr marL="0" indent="0" algn="l">
              <a:lnSpc>
                <a:spcPts val="4540"/>
              </a:lnSpc>
              <a:buNone/>
            </a:pPr>
            <a:r>
              <a:rPr lang="en-US" sz="4633" b="1" kern="0" spc="-116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трассировки</a:t>
            </a:r>
            <a:endParaRPr lang="en-US" sz="4633" dirty="0"/>
          </a:p>
          <a:p>
            <a:pPr marL="0" indent="0" algn="l">
              <a:lnSpc>
                <a:spcPts val="4540"/>
              </a:lnSpc>
              <a:buNone/>
            </a:pPr>
            <a:r>
              <a:rPr lang="en-US" sz="4633" b="1" kern="0" spc="-116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Linux</a:t>
            </a:r>
            <a:endParaRPr lang="en-US" sz="4633" dirty="0"/>
          </a:p>
        </p:txBody>
      </p:sp>
      <p:sp>
        <p:nvSpPr>
          <p:cNvPr id="7" name="Text 5"/>
          <p:cNvSpPr/>
          <p:nvPr/>
        </p:nvSpPr>
        <p:spPr>
          <a:xfrm>
            <a:off x="457200" y="3211450"/>
            <a:ext cx="7320915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kern="0" spc="135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strace </a:t>
            </a:r>
            <a:r>
              <a:rPr lang="en-US" sz="1125" kern="0" spc="135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r>
              <a:rPr lang="en-US" sz="1125" kern="0" spc="135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ltrace </a:t>
            </a:r>
            <a:r>
              <a:rPr lang="en-US" sz="1125" kern="0" spc="135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r>
              <a:rPr lang="en-US" sz="1125" kern="0" spc="135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perf </a:t>
            </a:r>
            <a:r>
              <a:rPr lang="en-US" sz="1125" kern="0" spc="135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r>
              <a:rPr lang="en-US" sz="1125" kern="0" spc="135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lft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457200" y="3540063"/>
            <a:ext cx="4714875" cy="439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3"/>
              </a:lnSpc>
              <a:buNone/>
            </a:pPr>
            <a:r>
              <a:rPr lang="en-US" sz="1069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Наблюдение за работающей программой — от системных вызовов до сетевых портов</a:t>
            </a:r>
            <a:endParaRPr lang="en-US" sz="1069" dirty="0"/>
          </a:p>
        </p:txBody>
      </p:sp>
      <p:sp>
        <p:nvSpPr>
          <p:cNvPr id="9" name="Text 7"/>
          <p:cNvSpPr/>
          <p:nvPr/>
        </p:nvSpPr>
        <p:spPr>
          <a:xfrm>
            <a:off x="457200" y="4488061"/>
            <a:ext cx="8229600" cy="7144"/>
          </a:xfrm>
          <a:prstGeom prst="rect">
            <a:avLst/>
          </a:prstGeom>
          <a:solidFill>
            <a:srgbClr val="D1D5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7200" y="4609505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00" kern="0" spc="35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Практический разбор на примерах C-кода и реального вывода утилит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27732"/>
            <a:ext cx="57150" cy="57150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0075" y="400050"/>
            <a:ext cx="204979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177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ТРАССИРОВКА · КОНЦЕПЦИЯ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701647" y="407409"/>
            <a:ext cx="98515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13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УРОВНИ 01–04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612577"/>
            <a:ext cx="8229600" cy="7144"/>
          </a:xfrm>
          <a:prstGeom prst="rect">
            <a:avLst/>
          </a:prstGeom>
          <a:solidFill>
            <a:srgbClr val="D1D5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805458"/>
            <a:ext cx="8636000" cy="41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2025" b="1" kern="0" spc="-3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такое трассировка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457200" y="1291233"/>
            <a:ext cx="8072438" cy="569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77"/>
              </a:lnSpc>
              <a:buNone/>
            </a:pPr>
            <a:r>
              <a:rPr lang="en-US" sz="1463" b="1" kern="0" spc="-15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Трассировка</a:t>
            </a:r>
            <a:r>
              <a:rPr lang="en-US" sz="1463" kern="0" spc="-15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это наблюдение за работающей программой в момент возникновения событий: какие вызовы она делает, что получает и на что тратит время</a:t>
            </a:r>
            <a:endParaRPr lang="en-US" sz="1463" dirty="0"/>
          </a:p>
        </p:txBody>
      </p:sp>
      <p:sp>
        <p:nvSpPr>
          <p:cNvPr id="8" name="Shape 6"/>
          <p:cNvSpPr/>
          <p:nvPr/>
        </p:nvSpPr>
        <p:spPr>
          <a:xfrm>
            <a:off x="457200" y="2522190"/>
            <a:ext cx="8229600" cy="0"/>
          </a:xfrm>
          <a:prstGeom prst="line">
            <a:avLst/>
          </a:prstGeom>
          <a:noFill/>
          <a:ln w="7144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11425"/>
            <a:ext cx="109728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63"/>
              </a:lnSpc>
              <a:buNone/>
            </a:pPr>
            <a:r>
              <a:rPr lang="en-US" sz="1575" b="1" kern="0" spc="-32" dirty="0">
                <a:solidFill>
                  <a:srgbClr val="0A0A0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01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1143000" y="2173932"/>
            <a:ext cx="7543800" cy="18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Библиотечные вызовы</a:t>
            </a:r>
            <a:r>
              <a:rPr lang="en-US" sz="844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что происходит внутри программы до обращения к ядру (</a:t>
            </a:r>
            <a:r>
              <a:rPr lang="en-US" sz="844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ltrace</a:t>
            </a:r>
            <a:r>
              <a:rPr lang="en-US" sz="844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844" dirty="0"/>
          </a:p>
        </p:txBody>
      </p:sp>
      <p:sp>
        <p:nvSpPr>
          <p:cNvPr id="11" name="Shape 9"/>
          <p:cNvSpPr/>
          <p:nvPr/>
        </p:nvSpPr>
        <p:spPr>
          <a:xfrm>
            <a:off x="457200" y="3043684"/>
            <a:ext cx="8229600" cy="0"/>
          </a:xfrm>
          <a:prstGeom prst="line">
            <a:avLst/>
          </a:prstGeom>
          <a:noFill/>
          <a:ln w="7144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32918"/>
            <a:ext cx="109728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63"/>
              </a:lnSpc>
              <a:buNone/>
            </a:pPr>
            <a:r>
              <a:rPr lang="en-US" sz="1575" b="1" kern="0" spc="-32" dirty="0">
                <a:solidFill>
                  <a:srgbClr val="0A0A0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02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1143000" y="2695426"/>
            <a:ext cx="7543800" cy="18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b="1" dirty="0" err="1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Граница</a:t>
            </a:r>
            <a:r>
              <a:rPr lang="en-US" sz="844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844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</a:t>
            </a:r>
            <a:r>
              <a:rPr lang="en-US" sz="844" b="1" dirty="0" err="1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</a:t>
            </a:r>
            <a:r>
              <a:rPr lang="en-US" sz="844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844" b="1" dirty="0" err="1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</a:t>
            </a:r>
            <a:r>
              <a:rPr lang="ru-RU" sz="844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r>
              <a:rPr lang="en-US" sz="844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системные вызовы (</a:t>
            </a:r>
            <a:r>
              <a:rPr lang="en-US" sz="844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syscalls</a:t>
            </a:r>
            <a:r>
              <a:rPr lang="en-US" sz="844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и сигналы (</a:t>
            </a:r>
            <a:r>
              <a:rPr lang="en-US" sz="844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strace</a:t>
            </a:r>
            <a:r>
              <a:rPr lang="en-US" sz="844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844" dirty="0"/>
          </a:p>
        </p:txBody>
      </p:sp>
      <p:sp>
        <p:nvSpPr>
          <p:cNvPr id="14" name="Shape 12"/>
          <p:cNvSpPr/>
          <p:nvPr/>
        </p:nvSpPr>
        <p:spPr>
          <a:xfrm>
            <a:off x="457200" y="3565178"/>
            <a:ext cx="8229600" cy="0"/>
          </a:xfrm>
          <a:prstGeom prst="line">
            <a:avLst/>
          </a:prstGeom>
          <a:noFill/>
          <a:ln w="7144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154412"/>
            <a:ext cx="109728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63"/>
              </a:lnSpc>
              <a:buNone/>
            </a:pPr>
            <a:r>
              <a:rPr lang="en-US" sz="1575" b="1" kern="0" spc="-32" dirty="0">
                <a:solidFill>
                  <a:srgbClr val="0A0A0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03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1143000" y="3216920"/>
            <a:ext cx="7543800" cy="18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Профилирование времени</a:t>
            </a:r>
            <a:r>
              <a:rPr lang="en-US" sz="844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периодическая фиксация выполняющейся функции (</a:t>
            </a:r>
            <a:r>
              <a:rPr lang="en-US" sz="844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</a:t>
            </a:r>
            <a:r>
              <a:rPr lang="en-US" sz="844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844" dirty="0"/>
          </a:p>
        </p:txBody>
      </p:sp>
      <p:sp>
        <p:nvSpPr>
          <p:cNvPr id="17" name="Text 15"/>
          <p:cNvSpPr/>
          <p:nvPr/>
        </p:nvSpPr>
        <p:spPr>
          <a:xfrm>
            <a:off x="457200" y="3675906"/>
            <a:ext cx="1097280" cy="324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63"/>
              </a:lnSpc>
              <a:buNone/>
            </a:pPr>
            <a:r>
              <a:rPr lang="en-US" sz="1575" b="1" kern="0" spc="-32" dirty="0">
                <a:solidFill>
                  <a:srgbClr val="0A0A0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04</a:t>
            </a:r>
            <a:endParaRPr lang="en-US" sz="1575" dirty="0"/>
          </a:p>
        </p:txBody>
      </p:sp>
      <p:sp>
        <p:nvSpPr>
          <p:cNvPr id="18" name="Text 16"/>
          <p:cNvSpPr/>
          <p:nvPr/>
        </p:nvSpPr>
        <p:spPr>
          <a:xfrm>
            <a:off x="1143000" y="3738414"/>
            <a:ext cx="7543800" cy="189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Транспортный уровень</a:t>
            </a:r>
            <a:r>
              <a:rPr lang="en-US" sz="844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трассировка до конкретного порта TCP/UDP (</a:t>
            </a:r>
            <a:r>
              <a:rPr lang="en-US" sz="844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lft</a:t>
            </a:r>
            <a:r>
              <a:rPr lang="en-US" sz="844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844" dirty="0"/>
          </a:p>
        </p:txBody>
      </p:sp>
      <p:sp>
        <p:nvSpPr>
          <p:cNvPr id="19" name="Text 17"/>
          <p:cNvSpPr/>
          <p:nvPr/>
        </p:nvSpPr>
        <p:spPr>
          <a:xfrm>
            <a:off x="460772" y="4343623"/>
            <a:ext cx="8222456" cy="396255"/>
          </a:xfrm>
          <a:prstGeom prst="roundRect">
            <a:avLst>
              <a:gd name="adj" fmla="val 24038"/>
            </a:avLst>
          </a:prstGeom>
          <a:solidFill>
            <a:srgbClr val="F7F7F8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07219" y="4504358"/>
            <a:ext cx="57150" cy="57150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64381" y="4461495"/>
            <a:ext cx="7772400" cy="160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4"/>
              </a:lnSpc>
              <a:buNone/>
            </a:pPr>
            <a:r>
              <a:rPr lang="en-US" sz="816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Зачем это нужно:</a:t>
            </a:r>
            <a:r>
              <a:rPr lang="en-US" sz="816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программа зависает, течёт памятью, работает медленно или порт „молчит“ — трассировка отвечает на вопрос, </a:t>
            </a:r>
            <a:r>
              <a:rPr lang="en-US" sz="816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происходит прямо сейчас</a:t>
            </a:r>
            <a:endParaRPr lang="en-US" sz="81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27732"/>
            <a:ext cx="57150" cy="57150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0075" y="400050"/>
            <a:ext cx="80867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177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ОБЗОР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12577"/>
            <a:ext cx="8229600" cy="7144"/>
          </a:xfrm>
          <a:prstGeom prst="rect">
            <a:avLst/>
          </a:prstGeom>
          <a:solidFill>
            <a:srgbClr val="D1D5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791170"/>
            <a:ext cx="8636000" cy="41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2025" b="1" kern="0" spc="-3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инструмента — четыре точки наблюдения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457200" y="1362670"/>
            <a:ext cx="4036219" cy="1611809"/>
          </a:xfrm>
          <a:prstGeom prst="roundRect">
            <a:avLst>
              <a:gd name="adj" fmla="val 7091"/>
            </a:avLst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42938" y="1534120"/>
            <a:ext cx="3461817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kern="0" spc="-13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strace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070878" y="1548408"/>
            <a:ext cx="284967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9CA3A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01</a:t>
            </a:r>
            <a:endParaRPr lang="en-US" sz="1238" dirty="0"/>
          </a:p>
        </p:txBody>
      </p:sp>
      <p:sp>
        <p:nvSpPr>
          <p:cNvPr id="9" name="Text 7"/>
          <p:cNvSpPr/>
          <p:nvPr/>
        </p:nvSpPr>
        <p:spPr>
          <a:xfrm>
            <a:off x="642938" y="1891308"/>
            <a:ext cx="3664744" cy="353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9"/>
              </a:lnSpc>
              <a:buNone/>
            </a:pPr>
            <a:r>
              <a:rPr lang="en-US" sz="816" dirty="0">
                <a:solidFill>
                  <a:srgbClr val="F5F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показывает границу между программой и ядром: все системные вызовы (syscalls), которые делает процесс, и все сигналы, которые он получает</a:t>
            </a:r>
            <a:endParaRPr lang="en-US" sz="816" dirty="0"/>
          </a:p>
        </p:txBody>
      </p:sp>
      <p:sp>
        <p:nvSpPr>
          <p:cNvPr id="10" name="Text 8"/>
          <p:cNvSpPr/>
          <p:nvPr/>
        </p:nvSpPr>
        <p:spPr>
          <a:xfrm>
            <a:off x="4654153" y="1366242"/>
            <a:ext cx="4029075" cy="1604665"/>
          </a:xfrm>
          <a:prstGeom prst="roundRect">
            <a:avLst>
              <a:gd name="adj" fmla="val 7123"/>
            </a:avLst>
          </a:prstGeom>
          <a:solidFill>
            <a:srgbClr val="FFFFFF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843463" y="1541264"/>
            <a:ext cx="3447529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kern="0" spc="-13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ltrace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57115" y="1555552"/>
            <a:ext cx="284967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9CA3A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02</a:t>
            </a:r>
            <a:endParaRPr lang="en-US" sz="1238" dirty="0"/>
          </a:p>
        </p:txBody>
      </p:sp>
      <p:sp>
        <p:nvSpPr>
          <p:cNvPr id="13" name="Text 11"/>
          <p:cNvSpPr/>
          <p:nvPr/>
        </p:nvSpPr>
        <p:spPr>
          <a:xfrm>
            <a:off x="4843463" y="1898452"/>
            <a:ext cx="3650456" cy="5301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9"/>
              </a:lnSpc>
              <a:buNone/>
            </a:pPr>
            <a:r>
              <a:rPr lang="en-US" sz="816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показывает вызовы библиотечных функций (malloc, free, strcpy, printf, pthread_create, SSL_read и т.д.) — то, что происходит внутри программы, до того как она обратится к ядру</a:t>
            </a:r>
            <a:endParaRPr lang="en-US" sz="816" dirty="0"/>
          </a:p>
        </p:txBody>
      </p:sp>
      <p:sp>
        <p:nvSpPr>
          <p:cNvPr id="14" name="Text 12"/>
          <p:cNvSpPr/>
          <p:nvPr/>
        </p:nvSpPr>
        <p:spPr>
          <a:xfrm>
            <a:off x="460772" y="3135213"/>
            <a:ext cx="4029075" cy="1604665"/>
          </a:xfrm>
          <a:prstGeom prst="roundRect">
            <a:avLst>
              <a:gd name="adj" fmla="val 7123"/>
            </a:avLst>
          </a:prstGeom>
          <a:solidFill>
            <a:srgbClr val="FFFFFF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50081" y="3310235"/>
            <a:ext cx="3447529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kern="0" spc="-13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063734" y="3324523"/>
            <a:ext cx="284967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9CA3A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03</a:t>
            </a:r>
            <a:endParaRPr lang="en-US" sz="1238" dirty="0"/>
          </a:p>
        </p:txBody>
      </p:sp>
      <p:sp>
        <p:nvSpPr>
          <p:cNvPr id="17" name="Text 15"/>
          <p:cNvSpPr/>
          <p:nvPr/>
        </p:nvSpPr>
        <p:spPr>
          <a:xfrm>
            <a:off x="650081" y="3667423"/>
            <a:ext cx="3650456" cy="353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9"/>
              </a:lnSpc>
              <a:buNone/>
            </a:pPr>
            <a:r>
              <a:rPr lang="en-US" sz="816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показывает, на что программа тратит время: время от времени „подглядывает“, чем занят процессор, и записывает, какая функция сейчас выполняется</a:t>
            </a:r>
            <a:endParaRPr lang="en-US" sz="816" dirty="0"/>
          </a:p>
        </p:txBody>
      </p:sp>
      <p:sp>
        <p:nvSpPr>
          <p:cNvPr id="18" name="Text 16"/>
          <p:cNvSpPr/>
          <p:nvPr/>
        </p:nvSpPr>
        <p:spPr>
          <a:xfrm>
            <a:off x="4654153" y="3135213"/>
            <a:ext cx="4029075" cy="1604665"/>
          </a:xfrm>
          <a:prstGeom prst="roundRect">
            <a:avLst>
              <a:gd name="adj" fmla="val 7123"/>
            </a:avLst>
          </a:prstGeom>
          <a:solidFill>
            <a:srgbClr val="FFFFFF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843463" y="3310235"/>
            <a:ext cx="3447529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kern="0" spc="-13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lft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257115" y="3324523"/>
            <a:ext cx="284967" cy="254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238" b="1" dirty="0">
                <a:solidFill>
                  <a:srgbClr val="9CA3A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04</a:t>
            </a:r>
            <a:endParaRPr lang="en-US" sz="1238" dirty="0"/>
          </a:p>
        </p:txBody>
      </p:sp>
      <p:sp>
        <p:nvSpPr>
          <p:cNvPr id="21" name="Text 19"/>
          <p:cNvSpPr/>
          <p:nvPr/>
        </p:nvSpPr>
        <p:spPr>
          <a:xfrm>
            <a:off x="4843463" y="3667423"/>
            <a:ext cx="3650456" cy="3534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89"/>
              </a:lnSpc>
              <a:buNone/>
            </a:pPr>
            <a:r>
              <a:rPr lang="en-US" sz="816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продвинутая альтернатива классическому traceroute: работает не только на сетевом (IP) уровне, но и на транспортном (TCP/UDP)</a:t>
            </a:r>
            <a:endParaRPr lang="en-US" sz="81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340" y="953502"/>
            <a:ext cx="840685" cy="252417"/>
          </a:xfrm>
          <a:prstGeom prst="roundRect">
            <a:avLst>
              <a:gd name="adj" fmla="val 3769744"/>
            </a:avLst>
          </a:prstGeom>
          <a:noFill/>
          <a:ln w="7144">
            <a:solidFill>
              <a:srgbClr val="0A0A0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966304"/>
            <a:ext cx="79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86"/>
              </a:lnSpc>
              <a:buNone/>
            </a:pPr>
            <a:r>
              <a:rPr lang="en-US" sz="800" kern="0" spc="154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РАЗДЕЛ 01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1350280"/>
            <a:ext cx="4937760" cy="68627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5057"/>
              </a:lnSpc>
              <a:buNone/>
            </a:pPr>
            <a:r>
              <a:rPr lang="en-US" sz="5057" b="1" kern="0" spc="-202" dirty="0">
                <a:solidFill>
                  <a:srgbClr val="0A0A0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01</a:t>
            </a:r>
            <a:endParaRPr lang="en-US" sz="5057" dirty="0"/>
          </a:p>
        </p:txBody>
      </p:sp>
      <p:sp>
        <p:nvSpPr>
          <p:cNvPr id="5" name="Text 3"/>
          <p:cNvSpPr/>
          <p:nvPr/>
        </p:nvSpPr>
        <p:spPr>
          <a:xfrm>
            <a:off x="457200" y="2063986"/>
            <a:ext cx="3950208" cy="447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63"/>
              </a:lnSpc>
              <a:buNone/>
            </a:pPr>
            <a:r>
              <a:rPr lang="en-US" sz="3263" b="1" kern="0" spc="-65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strace</a:t>
            </a:r>
            <a:endParaRPr lang="en-US" sz="3263" dirty="0"/>
          </a:p>
        </p:txBody>
      </p:sp>
      <p:sp>
        <p:nvSpPr>
          <p:cNvPr id="6" name="Text 4"/>
          <p:cNvSpPr/>
          <p:nvPr/>
        </p:nvSpPr>
        <p:spPr>
          <a:xfrm>
            <a:off x="457200" y="2621198"/>
            <a:ext cx="457200" cy="14288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2764073"/>
            <a:ext cx="3086100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44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Показывает границу между программой и ядром:</a:t>
            </a:r>
            <a:r>
              <a:rPr lang="en-US" sz="844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все системные вызовы процесса и все получаемые сигналы</a:t>
            </a:r>
            <a:endParaRPr lang="en-US" sz="844" dirty="0"/>
          </a:p>
        </p:txBody>
      </p:sp>
      <p:sp>
        <p:nvSpPr>
          <p:cNvPr id="8" name="Text 6"/>
          <p:cNvSpPr/>
          <p:nvPr/>
        </p:nvSpPr>
        <p:spPr>
          <a:xfrm>
            <a:off x="460772" y="3281995"/>
            <a:ext cx="3078956" cy="891629"/>
          </a:xfrm>
          <a:prstGeom prst="roundRect">
            <a:avLst>
              <a:gd name="adj" fmla="val 10683"/>
            </a:avLst>
          </a:prstGeom>
          <a:solidFill>
            <a:srgbClr val="F7F7F8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92931" y="3399867"/>
            <a:ext cx="2814638" cy="1493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b="1" kern="0" spc="142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ПРИМЕР 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2931" y="3576675"/>
            <a:ext cx="2814638" cy="479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1"/>
              </a:lnSpc>
              <a:buNone/>
            </a:pPr>
            <a:r>
              <a:rPr lang="en-US" sz="8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открывает 3 файла разными способами: </a:t>
            </a:r>
            <a:r>
              <a:rPr lang="en-US" sz="80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</a:t>
            </a:r>
            <a:r>
              <a:rPr lang="en-US" sz="8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0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openat</a:t>
            </a:r>
            <a:r>
              <a:rPr lang="en-US" sz="8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0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fopen</a:t>
            </a:r>
            <a:r>
              <a:rPr lang="en-US" sz="8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Посмотрим, какие методы она выполняет после вызова функций в программе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857625" y="1032272"/>
            <a:ext cx="4829175" cy="3078956"/>
          </a:xfrm>
          <a:prstGeom prst="roundRect">
            <a:avLst>
              <a:gd name="adj" fmla="val 3094"/>
            </a:avLst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3857625" y="1341239"/>
            <a:ext cx="4829175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00500" y="1117997"/>
            <a:ext cx="4271963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00" kern="0" spc="42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286750" y="1156395"/>
            <a:ext cx="57150" cy="57150"/>
          </a:xfrm>
          <a:prstGeom prst="ellipse">
            <a:avLst/>
          </a:prstGeom>
          <a:solidFill>
            <a:srgbClr val="6B728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386763" y="1156395"/>
            <a:ext cx="57150" cy="57150"/>
          </a:xfrm>
          <a:prstGeom prst="ellipse">
            <a:avLst/>
          </a:prstGeom>
          <a:solidFill>
            <a:srgbClr val="9CA3A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486775" y="1156395"/>
            <a:ext cx="57150" cy="57150"/>
          </a:xfrm>
          <a:prstGeom prst="ellipse">
            <a:avLst/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029075" y="1487686"/>
            <a:ext cx="4486275" cy="2623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14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800" dirty="0"/>
          </a:p>
          <a:p>
            <a:pPr marL="0" indent="0" algn="l">
              <a:lnSpc>
                <a:spcPts val="1214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&lt;fcntl.h&gt;</a:t>
            </a:r>
            <a:endParaRPr lang="en-US" sz="800" dirty="0"/>
          </a:p>
          <a:p>
            <a:pPr marL="0" indent="0" algn="l">
              <a:lnSpc>
                <a:spcPts val="1214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&lt;unistd.h&gt;</a:t>
            </a:r>
            <a:endParaRPr lang="en-US" sz="800" dirty="0"/>
          </a:p>
          <a:p>
            <a:pPr marL="0" indent="0" algn="l">
              <a:lnSpc>
                <a:spcPts val="1214"/>
              </a:lnSpc>
              <a:buNone/>
            </a:pPr>
            <a:endParaRPr lang="en-US" sz="800" dirty="0"/>
          </a:p>
          <a:p>
            <a:pPr marL="0" indent="0" algn="l">
              <a:lnSpc>
                <a:spcPts val="1214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main(void) {</a:t>
            </a:r>
            <a:endParaRPr lang="en-US" sz="800" dirty="0"/>
          </a:p>
          <a:p>
            <a:pPr marL="0" indent="0" algn="l">
              <a:lnSpc>
                <a:spcPts val="1214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int fd = open("/dsds", O_RDONLY);</a:t>
            </a:r>
            <a:endParaRPr lang="en-US" sz="800" dirty="0"/>
          </a:p>
          <a:p>
            <a:pPr marL="0" indent="0" algn="l">
              <a:lnSpc>
                <a:spcPts val="1214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if (fd &gt;= 0) close(fd);</a:t>
            </a:r>
            <a:endParaRPr lang="en-US" sz="800" dirty="0"/>
          </a:p>
          <a:p>
            <a:pPr marL="0" indent="0" algn="l">
              <a:lnSpc>
                <a:spcPts val="1214"/>
              </a:lnSpc>
              <a:buNone/>
            </a:pPr>
            <a:endParaRPr lang="en-US" sz="800" dirty="0"/>
          </a:p>
          <a:p>
            <a:pPr marL="0" indent="0" algn="l">
              <a:lnSpc>
                <a:spcPts val="1214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fd = openat(AT_FDCWD, "/etc/os-release", O_RDONLY);</a:t>
            </a:r>
            <a:endParaRPr lang="en-US" sz="800" dirty="0"/>
          </a:p>
          <a:p>
            <a:pPr marL="0" indent="0" algn="l">
              <a:lnSpc>
                <a:spcPts val="1214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if (fd &gt;= 0) close(fd);</a:t>
            </a:r>
            <a:endParaRPr lang="en-US" sz="800" dirty="0"/>
          </a:p>
          <a:p>
            <a:pPr marL="0" indent="0" algn="l">
              <a:lnSpc>
                <a:spcPts val="1214"/>
              </a:lnSpc>
              <a:buNone/>
            </a:pPr>
            <a:endParaRPr lang="en-US" sz="800" dirty="0"/>
          </a:p>
          <a:p>
            <a:pPr marL="0" indent="0" algn="l">
              <a:lnSpc>
                <a:spcPts val="1214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FILE *fp = fopen("/etc/hosts", "r");</a:t>
            </a:r>
            <a:endParaRPr lang="en-US" sz="800" dirty="0"/>
          </a:p>
          <a:p>
            <a:pPr marL="0" indent="0" algn="l">
              <a:lnSpc>
                <a:spcPts val="1214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if (fp) fclose(fp);</a:t>
            </a:r>
            <a:endParaRPr lang="en-US" sz="800" dirty="0"/>
          </a:p>
          <a:p>
            <a:pPr marL="0" indent="0" algn="l">
              <a:lnSpc>
                <a:spcPts val="1214"/>
              </a:lnSpc>
              <a:buNone/>
            </a:pPr>
            <a:endParaRPr lang="en-US" sz="800" dirty="0"/>
          </a:p>
          <a:p>
            <a:pPr marL="0" indent="0" algn="l">
              <a:lnSpc>
                <a:spcPts val="1214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return 0;</a:t>
            </a:r>
            <a:endParaRPr lang="en-US" sz="800" dirty="0"/>
          </a:p>
          <a:p>
            <a:pPr marL="0" indent="0" algn="l">
              <a:lnSpc>
                <a:spcPts val="1214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27732"/>
            <a:ext cx="57150" cy="57150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0075" y="400050"/>
            <a:ext cx="80867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177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РАЗДЕЛ 01 · STRACE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12577"/>
            <a:ext cx="8229600" cy="7144"/>
          </a:xfrm>
          <a:prstGeom prst="rect">
            <a:avLst/>
          </a:prstGeom>
          <a:solidFill>
            <a:srgbClr val="D1D5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776883"/>
            <a:ext cx="8636000" cy="416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2025" b="1" kern="0" spc="-3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a. Команда и вывод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457200" y="1367135"/>
            <a:ext cx="68575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b="1" kern="0" spc="13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КОМАНДА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02134" y="1291233"/>
            <a:ext cx="1969108" cy="264319"/>
          </a:xfrm>
          <a:prstGeom prst="roundRect">
            <a:avLst>
              <a:gd name="adj" fmla="val 3599997"/>
            </a:avLst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02134" y="1291233"/>
            <a:ext cx="7684666" cy="289995"/>
          </a:xfrm>
          <a:prstGeom prst="rect">
            <a:avLst/>
          </a:prstGeom>
          <a:noFill/>
          <a:ln/>
        </p:spPr>
        <p:txBody>
          <a:bodyPr wrap="none" lIns="114300" tIns="57150" rIns="114300" bIns="5715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strace -e trace=openat ./main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669852"/>
            <a:ext cx="8229600" cy="1341462"/>
          </a:xfrm>
          <a:prstGeom prst="roundRect">
            <a:avLst>
              <a:gd name="adj" fmla="val 7100"/>
            </a:avLst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57200" y="1964531"/>
            <a:ext cx="82296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0075" y="1748433"/>
            <a:ext cx="7672388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00" kern="0" spc="42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//Вывод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86750" y="1786830"/>
            <a:ext cx="57150" cy="57150"/>
          </a:xfrm>
          <a:prstGeom prst="ellipse">
            <a:avLst/>
          </a:prstGeom>
          <a:solidFill>
            <a:srgbClr val="6B728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8386763" y="1786830"/>
            <a:ext cx="57150" cy="57150"/>
          </a:xfrm>
          <a:prstGeom prst="ellipse">
            <a:avLst/>
          </a:prstGeom>
          <a:solidFill>
            <a:srgbClr val="9CA3A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486775" y="1786830"/>
            <a:ext cx="57150" cy="57150"/>
          </a:xfrm>
          <a:prstGeom prst="ellipse">
            <a:avLst/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4363" y="2082403"/>
            <a:ext cx="7915275" cy="910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1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openat(AT_FDCWD, "/etc/ld.so.cache", O_RDONLY|O_CLOEXEC) = 3</a:t>
            </a:r>
            <a:endParaRPr lang="en-US" sz="800" dirty="0"/>
          </a:p>
          <a:p>
            <a:pPr marL="0" indent="0" algn="l">
              <a:lnSpc>
                <a:spcPts val="1261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openat(AT_FDCWD, "/lib64/libc.so.6", O_RDONLY|O_CLOEXEC) = 3</a:t>
            </a:r>
            <a:endParaRPr lang="en-US" sz="800" dirty="0"/>
          </a:p>
          <a:p>
            <a:pPr marL="0" indent="0" algn="l">
              <a:lnSpc>
                <a:spcPts val="1261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openat(AT_FDCWD, "/dsds", O_RDONLY)     = -1 ENOENT (Нет такого файла или каталога)</a:t>
            </a:r>
            <a:endParaRPr lang="en-US" sz="800" dirty="0"/>
          </a:p>
          <a:p>
            <a:pPr marL="0" indent="0" algn="l">
              <a:lnSpc>
                <a:spcPts val="1261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openat(AT_FDCWD, "/etc/os-release", O_RDONLY) = 3</a:t>
            </a:r>
            <a:endParaRPr lang="en-US" sz="800" dirty="0"/>
          </a:p>
          <a:p>
            <a:pPr marL="0" indent="0" algn="l">
              <a:lnSpc>
                <a:spcPts val="1261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openat(AT_FDCWD, "/etc/hosts", O_RDONLY) = 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57200" y="3168476"/>
            <a:ext cx="156394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b="1" kern="0" spc="13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ЧТО ВЫВЕЛА КОМАНДА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678781" y="3221162"/>
            <a:ext cx="7008019" cy="7144"/>
          </a:xfrm>
          <a:prstGeom prst="rect">
            <a:avLst/>
          </a:prstGeom>
          <a:solidFill>
            <a:srgbClr val="D1D5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60772" y="3384575"/>
            <a:ext cx="2650331" cy="1383878"/>
          </a:xfrm>
          <a:prstGeom prst="roundRect">
            <a:avLst>
              <a:gd name="adj" fmla="val 6883"/>
            </a:avLst>
          </a:prstGeom>
          <a:solidFill>
            <a:srgbClr val="FFFFFF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92931" y="3502447"/>
            <a:ext cx="2386013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A0A0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1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592931" y="3773909"/>
            <a:ext cx="249574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две строки — библиотеки смотрят </a:t>
            </a: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КЭШ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246834" y="3384575"/>
            <a:ext cx="2650331" cy="1383878"/>
          </a:xfrm>
          <a:prstGeom prst="roundRect">
            <a:avLst>
              <a:gd name="adj" fmla="val 6883"/>
            </a:avLst>
          </a:prstGeom>
          <a:solidFill>
            <a:srgbClr val="FFFFFF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378994" y="3502447"/>
            <a:ext cx="2386013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A0A0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3378994" y="3773909"/>
            <a:ext cx="2386013" cy="509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Каждому успешному файлу передаётся файловый дескриптор </a:t>
            </a:r>
            <a:r>
              <a:rPr lang="en-US" sz="800" b="1" dirty="0">
                <a:solidFill>
                  <a:srgbClr val="0A0A0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первые три заняты </a:t>
            </a:r>
            <a:r>
              <a:rPr lang="en-US" sz="80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stdin</a:t>
            </a: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0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stdout</a:t>
            </a: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0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stderr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032897" y="3384575"/>
            <a:ext cx="2650331" cy="1383878"/>
          </a:xfrm>
          <a:prstGeom prst="roundRect">
            <a:avLst>
              <a:gd name="adj" fmla="val 6883"/>
            </a:avLst>
          </a:prstGeom>
          <a:solidFill>
            <a:srgbClr val="FFFFFF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165056" y="3502447"/>
            <a:ext cx="2386012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0A0A0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3</a:t>
            </a:r>
            <a:endParaRPr lang="en-US" sz="1125" dirty="0"/>
          </a:p>
        </p:txBody>
      </p:sp>
      <p:sp>
        <p:nvSpPr>
          <p:cNvPr id="26" name="Text 24"/>
          <p:cNvSpPr/>
          <p:nvPr/>
        </p:nvSpPr>
        <p:spPr>
          <a:xfrm>
            <a:off x="6165056" y="3773909"/>
            <a:ext cx="2386013" cy="3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файл не удалось открыть — </a:t>
            </a:r>
            <a:r>
              <a:rPr lang="en-US" sz="80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strace</a:t>
            </a: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напишет причину и выдаст код </a:t>
            </a:r>
            <a:r>
              <a:rPr lang="en-US" sz="800" b="1" dirty="0">
                <a:solidFill>
                  <a:srgbClr val="0A0A0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-1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27732"/>
            <a:ext cx="57150" cy="57150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0075" y="400050"/>
            <a:ext cx="80867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177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РАЗДЕЛ 01 · STRACE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12577"/>
            <a:ext cx="8229600" cy="7144"/>
          </a:xfrm>
          <a:prstGeom prst="rect">
            <a:avLst/>
          </a:prstGeom>
          <a:solidFill>
            <a:srgbClr val="D1D5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776883"/>
            <a:ext cx="8636000" cy="41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38"/>
              </a:lnSpc>
              <a:buNone/>
            </a:pPr>
            <a:r>
              <a:rPr lang="en-US" sz="2025" b="1" kern="0" spc="-3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b. Программа зависает — узнаём почему</a:t>
            </a:r>
            <a:endParaRPr lang="en-US" sz="2025" dirty="0"/>
          </a:p>
        </p:txBody>
      </p:sp>
      <p:sp>
        <p:nvSpPr>
          <p:cNvPr id="6" name="Text 4"/>
          <p:cNvSpPr/>
          <p:nvPr/>
        </p:nvSpPr>
        <p:spPr>
          <a:xfrm>
            <a:off x="457200" y="1334095"/>
            <a:ext cx="4143375" cy="3437930"/>
          </a:xfrm>
          <a:prstGeom prst="roundRect">
            <a:avLst>
              <a:gd name="adj" fmla="val 2771"/>
            </a:avLst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1643063"/>
            <a:ext cx="4143375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0075" y="1419820"/>
            <a:ext cx="3586163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00" kern="0" spc="42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200525" y="1458218"/>
            <a:ext cx="57150" cy="57150"/>
          </a:xfrm>
          <a:prstGeom prst="ellipse">
            <a:avLst/>
          </a:prstGeom>
          <a:solidFill>
            <a:srgbClr val="6B728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300538" y="1458218"/>
            <a:ext cx="57150" cy="57150"/>
          </a:xfrm>
          <a:prstGeom prst="ellipse">
            <a:avLst/>
          </a:prstGeom>
          <a:solidFill>
            <a:srgbClr val="9CA3A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400550" y="1458218"/>
            <a:ext cx="57150" cy="57150"/>
          </a:xfrm>
          <a:prstGeom prst="ellipse">
            <a:avLst/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28650" y="1775222"/>
            <a:ext cx="3800475" cy="2632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800" dirty="0"/>
          </a:p>
          <a:p>
            <a:pPr marL="0" indent="0" algn="l">
              <a:lnSpc>
                <a:spcPts val="1215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&lt;unistd.h&gt;</a:t>
            </a:r>
            <a:endParaRPr lang="en-US" sz="800" dirty="0"/>
          </a:p>
          <a:p>
            <a:pPr marL="0" indent="0" algn="l">
              <a:lnSpc>
                <a:spcPts val="1215"/>
              </a:lnSpc>
              <a:buNone/>
            </a:pPr>
            <a:endParaRPr lang="en-US" sz="800" dirty="0"/>
          </a:p>
          <a:p>
            <a:pPr marL="0" indent="0" algn="l">
              <a:lnSpc>
                <a:spcPts val="1215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main(void) {</a:t>
            </a:r>
            <a:endParaRPr lang="en-US" sz="800" dirty="0"/>
          </a:p>
          <a:p>
            <a:pPr marL="0" indent="0" algn="l">
              <a:lnSpc>
                <a:spcPts val="1215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printf("Введи что-нибудь и нажми Enter...\n");</a:t>
            </a:r>
            <a:endParaRPr lang="en-US" sz="800" dirty="0"/>
          </a:p>
          <a:p>
            <a:pPr marL="0" indent="0" algn="l">
              <a:lnSpc>
                <a:spcPts val="1215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fflush(stdout);</a:t>
            </a:r>
            <a:endParaRPr lang="en-US" sz="800" dirty="0"/>
          </a:p>
          <a:p>
            <a:pPr marL="0" indent="0" algn="l">
              <a:lnSpc>
                <a:spcPts val="1215"/>
              </a:lnSpc>
              <a:buNone/>
            </a:pPr>
            <a:endParaRPr lang="en-US" sz="800" dirty="0"/>
          </a:p>
          <a:p>
            <a:pPr marL="0" indent="0" algn="l">
              <a:lnSpc>
                <a:spcPts val="1215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char buf[256];</a:t>
            </a:r>
            <a:endParaRPr lang="en-US" sz="800" dirty="0"/>
          </a:p>
          <a:p>
            <a:pPr marL="0" indent="0" algn="l">
              <a:lnSpc>
                <a:spcPts val="1215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ssize_t n = read(STDIN_FILENO, buf, sizeof(buf) - 1);</a:t>
            </a:r>
            <a:endParaRPr lang="en-US" sz="800" dirty="0"/>
          </a:p>
          <a:p>
            <a:pPr marL="0" indent="0" algn="l">
              <a:lnSpc>
                <a:spcPts val="1215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if (n &gt; 0) {</a:t>
            </a:r>
            <a:endParaRPr lang="en-US" sz="800" dirty="0"/>
          </a:p>
          <a:p>
            <a:pPr marL="0" indent="0" algn="l">
              <a:lnSpc>
                <a:spcPts val="1215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buf[n] = '\0';</a:t>
            </a:r>
            <a:endParaRPr lang="en-US" sz="800" dirty="0"/>
          </a:p>
          <a:p>
            <a:pPr marL="0" indent="0" algn="l">
              <a:lnSpc>
                <a:spcPts val="1215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printf("Получено: %s", buf);</a:t>
            </a:r>
            <a:endParaRPr lang="en-US" sz="800" dirty="0"/>
          </a:p>
          <a:p>
            <a:pPr marL="0" indent="0" algn="l">
              <a:lnSpc>
                <a:spcPts val="1215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}</a:t>
            </a:r>
            <a:endParaRPr lang="en-US" sz="800" dirty="0"/>
          </a:p>
          <a:p>
            <a:pPr marL="0" indent="0" algn="l">
              <a:lnSpc>
                <a:spcPts val="1215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return 0;</a:t>
            </a:r>
            <a:endParaRPr lang="en-US" sz="800" dirty="0"/>
          </a:p>
          <a:p>
            <a:pPr marL="0" indent="0" algn="l">
              <a:lnSpc>
                <a:spcPts val="1215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886325" y="1334095"/>
            <a:ext cx="42576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b="1" kern="0" spc="142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ОТКРЫВАЕМ ДВЕ КОНСОЛИ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889897" y="1550194"/>
            <a:ext cx="3793331" cy="519708"/>
          </a:xfrm>
          <a:prstGeom prst="roundRect">
            <a:avLst>
              <a:gd name="adj" fmla="val 18328"/>
            </a:avLst>
          </a:prstGeom>
          <a:solidFill>
            <a:srgbClr val="F7F7F8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022056" y="1653778"/>
            <a:ext cx="3529013" cy="135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b="1" kern="0" spc="118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КОНСОЛЬ 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2056" y="1816298"/>
            <a:ext cx="363874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первой запускаем программу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89897" y="2162770"/>
            <a:ext cx="3793331" cy="830461"/>
          </a:xfrm>
          <a:prstGeom prst="roundRect">
            <a:avLst>
              <a:gd name="adj" fmla="val 11470"/>
            </a:avLst>
          </a:prstGeom>
          <a:solidFill>
            <a:srgbClr val="F7F7F8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022056" y="2266355"/>
            <a:ext cx="3529013" cy="1350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b="1" kern="0" spc="118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КОНСОЛЬ 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022056" y="2428875"/>
            <a:ext cx="36387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 второй выполняем команду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022056" y="2650331"/>
            <a:ext cx="2150604" cy="239316"/>
          </a:xfrm>
          <a:prstGeom prst="roundRect">
            <a:avLst>
              <a:gd name="adj" fmla="val 3976113"/>
            </a:avLst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022056" y="2650331"/>
            <a:ext cx="2150604" cy="239316"/>
          </a:xfrm>
          <a:prstGeom prst="rect">
            <a:avLst/>
          </a:prstGeom>
          <a:noFill/>
          <a:ln/>
        </p:spPr>
        <p:txBody>
          <a:bodyPr wrap="square" lIns="100013" tIns="50006" rIns="100013" bIns="50006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strace -p $(pidof main) -tt -T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886325" y="4096941"/>
            <a:ext cx="3800475" cy="0"/>
          </a:xfrm>
          <a:prstGeom prst="line">
            <a:avLst/>
          </a:prstGeom>
          <a:noFill/>
          <a:ln w="7144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86325" y="3846909"/>
            <a:ext cx="72237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</a:t>
            </a:r>
            <a:endParaRPr lang="en-US" sz="844" dirty="0"/>
          </a:p>
        </p:txBody>
      </p:sp>
      <p:sp>
        <p:nvSpPr>
          <p:cNvPr id="24" name="Text 22"/>
          <p:cNvSpPr/>
          <p:nvPr/>
        </p:nvSpPr>
        <p:spPr>
          <a:xfrm>
            <a:off x="5343525" y="3846909"/>
            <a:ext cx="3453003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2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подключиться к уже работающему процессу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886325" y="4436269"/>
            <a:ext cx="3800475" cy="0"/>
          </a:xfrm>
          <a:prstGeom prst="line">
            <a:avLst/>
          </a:prstGeom>
          <a:noFill/>
          <a:ln w="7144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86325" y="4186238"/>
            <a:ext cx="72237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-tt</a:t>
            </a:r>
            <a:endParaRPr lang="en-US" sz="844" dirty="0"/>
          </a:p>
        </p:txBody>
      </p:sp>
      <p:sp>
        <p:nvSpPr>
          <p:cNvPr id="27" name="Text 25"/>
          <p:cNvSpPr/>
          <p:nvPr/>
        </p:nvSpPr>
        <p:spPr>
          <a:xfrm>
            <a:off x="5343525" y="4186238"/>
            <a:ext cx="3453003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2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точное время каждого вызова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86325" y="4525566"/>
            <a:ext cx="722376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-T</a:t>
            </a:r>
            <a:endParaRPr lang="en-US" sz="844" dirty="0"/>
          </a:p>
        </p:txBody>
      </p:sp>
      <p:sp>
        <p:nvSpPr>
          <p:cNvPr id="29" name="Text 27"/>
          <p:cNvSpPr/>
          <p:nvPr/>
        </p:nvSpPr>
        <p:spPr>
          <a:xfrm>
            <a:off x="5343525" y="4525566"/>
            <a:ext cx="3610737" cy="159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2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длительность каждого вызова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663" y="373868"/>
            <a:ext cx="1343484" cy="222028"/>
          </a:xfrm>
          <a:prstGeom prst="roundRect">
            <a:avLst>
              <a:gd name="adj" fmla="val 4285709"/>
            </a:avLst>
          </a:prstGeom>
          <a:noFill/>
          <a:ln w="7144">
            <a:solidFill>
              <a:srgbClr val="0A0A0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385763"/>
            <a:ext cx="1194792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86"/>
              </a:lnSpc>
              <a:buNone/>
            </a:pPr>
            <a:r>
              <a:rPr lang="en-US" sz="800" kern="0" spc="106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STRACE — ПРИМЕР B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297675" y="478377"/>
            <a:ext cx="134348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79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STRACE -P · -TT · -T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28625" y="698302"/>
            <a:ext cx="8636000" cy="292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35"/>
              </a:lnSpc>
              <a:buNone/>
            </a:pPr>
            <a:r>
              <a:rPr lang="en-US" sz="1856" b="1" kern="0" spc="-19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b. Живая трассировка: что мы увидели</a:t>
            </a:r>
            <a:endParaRPr lang="en-US" sz="1856" dirty="0"/>
          </a:p>
        </p:txBody>
      </p:sp>
      <p:sp>
        <p:nvSpPr>
          <p:cNvPr id="7" name="Text 5"/>
          <p:cNvSpPr/>
          <p:nvPr/>
        </p:nvSpPr>
        <p:spPr>
          <a:xfrm>
            <a:off x="428625" y="1140768"/>
            <a:ext cx="5029200" cy="768176"/>
          </a:xfrm>
          <a:prstGeom prst="roundRect">
            <a:avLst>
              <a:gd name="adj" fmla="val 12400"/>
            </a:avLst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28625" y="1360438"/>
            <a:ext cx="50292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2925" y="1197918"/>
            <a:ext cx="4373538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86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ПОКА ПРОГРАММА ЖДЁТ ВВОДА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916097" y="1197918"/>
            <a:ext cx="442082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600" kern="0" spc="86" dirty="0">
                <a:solidFill>
                  <a:srgbClr val="9CA3A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PID 4356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557213" y="1456879"/>
            <a:ext cx="4772025" cy="452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8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strace: Process 4356 attached</a:t>
            </a:r>
            <a:endParaRPr lang="en-US" sz="800" dirty="0"/>
          </a:p>
          <a:p>
            <a:pPr marL="0" indent="0" algn="l">
              <a:lnSpc>
                <a:spcPts val="1358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20:10:33.887403 read(0,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2913" y="1994669"/>
            <a:ext cx="845345" cy="99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0000" lnSpcReduction="20000"/>
          </a:bodyPr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600" dirty="0">
                <a:solidFill>
                  <a:srgbClr val="0A0A0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20:10:33.887403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442913" y="2121471"/>
            <a:ext cx="83405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59"/>
              </a:lnSpc>
              <a:buNone/>
            </a:pPr>
            <a:r>
              <a:rPr lang="en-US" sz="600" kern="0" spc="5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STRACE ATTACH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1232408" y="2106290"/>
            <a:ext cx="3421633" cy="7144"/>
          </a:xfrm>
          <a:prstGeom prst="rect">
            <a:avLst/>
          </a:prstGeom>
          <a:solidFill>
            <a:srgbClr val="D1D5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050982" y="2021458"/>
            <a:ext cx="1784486" cy="169664"/>
          </a:xfrm>
          <a:prstGeom prst="roundRect">
            <a:avLst>
              <a:gd name="adj" fmla="val 5608423"/>
            </a:avLst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050982" y="2021458"/>
            <a:ext cx="1784486" cy="248194"/>
          </a:xfrm>
          <a:prstGeom prst="rect">
            <a:avLst/>
          </a:prstGeom>
          <a:noFill/>
          <a:ln/>
        </p:spPr>
        <p:txBody>
          <a:bodyPr wrap="none" lIns="100013" tIns="28575" rIns="100013" bIns="28575" rtlCol="0" anchor="t"/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600" kern="0" spc="24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 70.097927 c — read заблокирован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4598192" y="1994669"/>
            <a:ext cx="845345" cy="99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70000" lnSpcReduction="20000"/>
          </a:bodyPr>
          <a:lstStyle/>
          <a:p>
            <a:pPr marL="0" indent="0" algn="r">
              <a:lnSpc>
                <a:spcPts val="886"/>
              </a:lnSpc>
              <a:buNone/>
            </a:pPr>
            <a:r>
              <a:rPr lang="en-US" sz="600" dirty="0">
                <a:solidFill>
                  <a:srgbClr val="0A0A0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20:11:43.985613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4609481" y="2121471"/>
            <a:ext cx="83405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759"/>
              </a:lnSpc>
              <a:buNone/>
            </a:pPr>
            <a:r>
              <a:rPr lang="en-US" sz="800" kern="0" spc="51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ВЕРНУЛСЯ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28625" y="2303636"/>
            <a:ext cx="5029200" cy="1609799"/>
          </a:xfrm>
          <a:prstGeom prst="roundRect">
            <a:avLst>
              <a:gd name="adj" fmla="val 7006"/>
            </a:avLst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28625" y="2523306"/>
            <a:ext cx="502920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2925" y="2360786"/>
            <a:ext cx="4373538" cy="101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86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ПОСЛЕ ВВОДА «HEY» В ПЕРВОЙ КОНСОЛИ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916097" y="2360786"/>
            <a:ext cx="442082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600" kern="0" spc="86" dirty="0">
                <a:solidFill>
                  <a:srgbClr val="9CA3A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PID 4356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528782" y="2610817"/>
            <a:ext cx="4977296" cy="1043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29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strace: Process 4356 attached</a:t>
            </a:r>
            <a:endParaRPr lang="en-US" sz="800" dirty="0"/>
          </a:p>
          <a:p>
            <a:pPr marL="0" indent="0" algn="l">
              <a:lnSpc>
                <a:spcPts val="1229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20:10:33.887403 read(0, "Hey\n", 255)   = 4 </a:t>
            </a: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&lt;70.097927&gt;</a:t>
            </a:r>
            <a:endParaRPr lang="en-US" sz="800" dirty="0"/>
          </a:p>
          <a:p>
            <a:pPr marL="0" indent="0" algn="l">
              <a:lnSpc>
                <a:spcPts val="1229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20:11:43.985613 write(1, "\320\237\320\276\320\273\321\203\</a:t>
            </a:r>
            <a:endParaRPr lang="ru-RU" sz="800" dirty="0">
              <a:solidFill>
                <a:srgbClr val="F5F5F5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ts val="1229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321\207\320\265\320\275\320\276: Hey\n", 22) = 22 &lt;0.000017&gt;</a:t>
            </a:r>
            <a:endParaRPr lang="en-US" sz="800" dirty="0"/>
          </a:p>
          <a:p>
            <a:pPr marL="0" indent="0" algn="l">
              <a:lnSpc>
                <a:spcPts val="1229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20:11:43.986132 write(1, "\320\223\320\276\321\202\320\276</a:t>
            </a:r>
            <a:endParaRPr lang="ru-RU" sz="800" dirty="0">
              <a:solidFill>
                <a:srgbClr val="F5F5F5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ts val="1229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\320\262\320\276.\n", 14) = 14 &lt;0.000035&gt;</a:t>
            </a:r>
            <a:endParaRPr lang="en-US" sz="800" dirty="0"/>
          </a:p>
          <a:p>
            <a:pPr marL="0" indent="0" algn="l">
              <a:lnSpc>
                <a:spcPts val="1229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20:11:43.986529 exit_group(0)           = ?</a:t>
            </a:r>
            <a:endParaRPr lang="en-US" sz="800" dirty="0"/>
          </a:p>
          <a:p>
            <a:pPr marL="0" indent="0" algn="l">
              <a:lnSpc>
                <a:spcPts val="1229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20:11:43.986799 </a:t>
            </a:r>
            <a:r>
              <a:rPr lang="en-US" sz="800" dirty="0">
                <a:solidFill>
                  <a:srgbClr val="9CA3A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+++ exited with 0 +++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32197" y="4326880"/>
            <a:ext cx="1829135" cy="196453"/>
          </a:xfrm>
          <a:prstGeom prst="roundRect">
            <a:avLst>
              <a:gd name="adj" fmla="val 4843639"/>
            </a:avLst>
          </a:prstGeom>
          <a:noFill/>
          <a:ln w="7144">
            <a:solidFill>
              <a:srgbClr val="0A0A0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28625" y="4323308"/>
            <a:ext cx="1879141" cy="284295"/>
          </a:xfrm>
          <a:prstGeom prst="rect">
            <a:avLst/>
          </a:prstGeom>
          <a:noFill/>
          <a:ln/>
        </p:spPr>
        <p:txBody>
          <a:bodyPr wrap="none" lIns="85725" tIns="35719" rIns="85725" bIns="35719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strace -p $(pidof main) -tt -T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722104" y="4365054"/>
            <a:ext cx="3107196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подключение к работающему процессу 4356 — без перезапуска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715000" y="1168450"/>
            <a:ext cx="57150" cy="57150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829300" y="1140768"/>
            <a:ext cx="28860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118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РАЗБОР ВЫВОДА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715000" y="1646969"/>
            <a:ext cx="145777" cy="382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9CA3A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01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903640" y="1668400"/>
            <a:ext cx="284857" cy="107156"/>
          </a:xfrm>
          <a:prstGeom prst="roundRect">
            <a:avLst>
              <a:gd name="adj" fmla="val 35556"/>
            </a:avLst>
          </a:prstGeom>
          <a:solidFill>
            <a:srgbClr val="F7F7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932884" y="1817861"/>
            <a:ext cx="633226" cy="107156"/>
          </a:xfrm>
          <a:prstGeom prst="roundRect">
            <a:avLst>
              <a:gd name="adj" fmla="val 35556"/>
            </a:avLst>
          </a:prstGeom>
          <a:solidFill>
            <a:srgbClr val="F7F7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903640" y="1646969"/>
            <a:ext cx="2811735" cy="34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7"/>
              </a:lnSpc>
              <a:buNone/>
            </a:pPr>
            <a:r>
              <a:rPr lang="en-US" sz="800" dirty="0">
                <a:solidFill>
                  <a:srgbClr val="0A0A0A"/>
                </a:solidFill>
                <a:highlight>
                  <a:srgbClr val="F7F7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</a:t>
            </a:r>
            <a:r>
              <a:rPr lang="en-US" sz="8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блокировался 70 секунд — вот источник „зависания“ (</a:t>
            </a:r>
            <a:r>
              <a:rPr lang="en-US" sz="800" dirty="0">
                <a:solidFill>
                  <a:srgbClr val="0A0A0A"/>
                </a:solidFill>
                <a:highlight>
                  <a:srgbClr val="F7F7F8"/>
                </a:highlight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&lt;70.097927&gt;</a:t>
            </a:r>
            <a:r>
              <a:rPr lang="en-US" sz="8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715000" y="2339578"/>
            <a:ext cx="3000375" cy="7144"/>
          </a:xfrm>
          <a:prstGeom prst="rect">
            <a:avLst/>
          </a:prstGeom>
          <a:solidFill>
            <a:srgbClr val="D1D5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715000" y="2740409"/>
            <a:ext cx="145777" cy="382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9CA3A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02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961821" y="2761841"/>
            <a:ext cx="384423" cy="107156"/>
          </a:xfrm>
          <a:prstGeom prst="roundRect">
            <a:avLst>
              <a:gd name="adj" fmla="val 35556"/>
            </a:avLst>
          </a:prstGeom>
          <a:solidFill>
            <a:srgbClr val="F7F7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769150" y="2911301"/>
            <a:ext cx="334640" cy="107156"/>
          </a:xfrm>
          <a:prstGeom prst="roundRect">
            <a:avLst>
              <a:gd name="adj" fmla="val 35556"/>
            </a:avLst>
          </a:prstGeom>
          <a:solidFill>
            <a:srgbClr val="F7F7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903640" y="2740409"/>
            <a:ext cx="2811735" cy="34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7"/>
              </a:lnSpc>
              <a:buNone/>
            </a:pPr>
            <a:r>
              <a:rPr lang="en-US" sz="8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Увидели не только то, что ввели, но и что записал </a:t>
            </a:r>
            <a:r>
              <a:rPr lang="en-US" sz="800" dirty="0">
                <a:solidFill>
                  <a:srgbClr val="0A0A0A"/>
                </a:solidFill>
                <a:highlight>
                  <a:srgbClr val="F7F7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r>
              <a:rPr lang="en-US" sz="8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последовательности </a:t>
            </a:r>
            <a:r>
              <a:rPr lang="en-US" sz="800" dirty="0">
                <a:solidFill>
                  <a:srgbClr val="0A0A0A"/>
                </a:solidFill>
                <a:highlight>
                  <a:srgbClr val="F7F7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\320…</a:t>
            </a:r>
            <a:r>
              <a:rPr lang="en-US" sz="8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это русские слова в UTF-8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715000" y="3433018"/>
            <a:ext cx="3000375" cy="7144"/>
          </a:xfrm>
          <a:prstGeom prst="rect">
            <a:avLst/>
          </a:prstGeom>
          <a:solidFill>
            <a:srgbClr val="D1D5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715000" y="3833850"/>
            <a:ext cx="145777" cy="382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9CA3A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03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903640" y="3855281"/>
            <a:ext cx="732792" cy="107156"/>
          </a:xfrm>
          <a:prstGeom prst="roundRect">
            <a:avLst>
              <a:gd name="adj" fmla="val 35556"/>
            </a:avLst>
          </a:prstGeom>
          <a:solidFill>
            <a:srgbClr val="F7F7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732203" y="3855281"/>
            <a:ext cx="1130945" cy="107156"/>
          </a:xfrm>
          <a:prstGeom prst="roundRect">
            <a:avLst>
              <a:gd name="adj" fmla="val 35556"/>
            </a:avLst>
          </a:prstGeom>
          <a:solidFill>
            <a:srgbClr val="F7F7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5903640" y="3833850"/>
            <a:ext cx="2811735" cy="34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7"/>
              </a:lnSpc>
              <a:buNone/>
            </a:pPr>
            <a:r>
              <a:rPr lang="en-US" sz="800" dirty="0">
                <a:solidFill>
                  <a:srgbClr val="0A0A0A"/>
                </a:solidFill>
                <a:highlight>
                  <a:srgbClr val="F7F7F8"/>
                </a:highlight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exit_group(0)</a:t>
            </a:r>
            <a:r>
              <a:rPr lang="en-US" sz="8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800" dirty="0">
                <a:solidFill>
                  <a:srgbClr val="0A0A0A"/>
                </a:solidFill>
                <a:highlight>
                  <a:srgbClr val="F7F7F8"/>
                </a:highlight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+++ exited with 0 +++</a:t>
            </a:r>
            <a:r>
              <a:rPr lang="en-US" sz="8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нормальное завершение процесса</a:t>
            </a:r>
            <a:endParaRPr lang="en-US" sz="800" dirty="0"/>
          </a:p>
        </p:txBody>
      </p:sp>
      <p:sp>
        <p:nvSpPr>
          <p:cNvPr id="43" name="Text 4">
            <a:extLst>
              <a:ext uri="{FF2B5EF4-FFF2-40B4-BE49-F238E27FC236}">
                <a16:creationId xmlns:a16="http://schemas.microsoft.com/office/drawing/2014/main" id="{2F7FD5ED-2005-4490-9620-F5BC88647BBA}"/>
              </a:ext>
            </a:extLst>
          </p:cNvPr>
          <p:cNvSpPr/>
          <p:nvPr/>
        </p:nvSpPr>
        <p:spPr>
          <a:xfrm>
            <a:off x="400050" y="669727"/>
            <a:ext cx="8343900" cy="7144"/>
          </a:xfrm>
          <a:prstGeom prst="rect">
            <a:avLst/>
          </a:prstGeom>
          <a:solidFill>
            <a:srgbClr val="D1D5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8346" y="373868"/>
            <a:ext cx="1405083" cy="222028"/>
          </a:xfrm>
          <a:prstGeom prst="roundRect">
            <a:avLst>
              <a:gd name="adj" fmla="val 4285709"/>
            </a:avLst>
          </a:prstGeom>
          <a:noFill/>
          <a:ln w="7144">
            <a:solidFill>
              <a:srgbClr val="0A0A0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385763"/>
            <a:ext cx="1194792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86"/>
              </a:lnSpc>
              <a:buNone/>
            </a:pPr>
            <a:r>
              <a:rPr lang="en-US" sz="800" kern="0" spc="106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STRACE — ПРИМЕР C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88033" y="421643"/>
            <a:ext cx="65591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79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STRACE -C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28625" y="698302"/>
            <a:ext cx="8636000" cy="292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35"/>
              </a:lnSpc>
              <a:buNone/>
            </a:pPr>
            <a:r>
              <a:rPr lang="en-US" sz="1856" b="1" kern="0" spc="-19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c. Сколько времени занимают вызовы</a:t>
            </a:r>
            <a:endParaRPr lang="en-US" sz="1856" dirty="0"/>
          </a:p>
        </p:txBody>
      </p:sp>
      <p:sp>
        <p:nvSpPr>
          <p:cNvPr id="7" name="Text 5"/>
          <p:cNvSpPr/>
          <p:nvPr/>
        </p:nvSpPr>
        <p:spPr>
          <a:xfrm>
            <a:off x="428625" y="1140768"/>
            <a:ext cx="4286250" cy="3645545"/>
          </a:xfrm>
          <a:prstGeom prst="roundRect">
            <a:avLst>
              <a:gd name="adj" fmla="val 2613"/>
            </a:avLst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28625" y="1360438"/>
            <a:ext cx="428625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2925" y="1197918"/>
            <a:ext cx="3424312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86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959763" y="1197918"/>
            <a:ext cx="662574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86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· ПРИМЕР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57213" y="1464022"/>
            <a:ext cx="4029075" cy="33182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2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800" dirty="0"/>
          </a:p>
          <a:p>
            <a:pPr marL="0" indent="0" algn="l">
              <a:lnSpc>
                <a:spcPts val="1302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&lt;fcntl.h&gt;</a:t>
            </a:r>
            <a:endParaRPr lang="en-US" sz="800" dirty="0"/>
          </a:p>
          <a:p>
            <a:pPr marL="0" indent="0" algn="l">
              <a:lnSpc>
                <a:spcPts val="1302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&lt;unistd.h&gt;</a:t>
            </a:r>
            <a:endParaRPr lang="en-US" sz="800" dirty="0"/>
          </a:p>
          <a:p>
            <a:pPr marL="0" indent="0" algn="l">
              <a:lnSpc>
                <a:spcPts val="1302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&lt;string.h&gt;</a:t>
            </a:r>
            <a:endParaRPr lang="en-US" sz="800" dirty="0"/>
          </a:p>
          <a:p>
            <a:pPr marL="0" indent="0" algn="l">
              <a:lnSpc>
                <a:spcPts val="1302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main(void) {</a:t>
            </a:r>
            <a:endParaRPr lang="en-US" sz="800" dirty="0"/>
          </a:p>
          <a:p>
            <a:pPr marL="0" indent="0" algn="l">
              <a:lnSpc>
                <a:spcPts val="1302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    for (int i = 0; i &lt; 100; i++) {</a:t>
            </a:r>
            <a:endParaRPr lang="en-US" sz="800" dirty="0"/>
          </a:p>
          <a:p>
            <a:pPr marL="0" indent="0" algn="l">
              <a:lnSpc>
                <a:spcPts val="1302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printf("line %d\n", i);</a:t>
            </a:r>
            <a:endParaRPr lang="en-US" sz="800" dirty="0"/>
          </a:p>
          <a:p>
            <a:pPr marL="0" indent="0" algn="l">
              <a:lnSpc>
                <a:spcPts val="1302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}</a:t>
            </a:r>
            <a:endParaRPr lang="en-US" sz="800" dirty="0"/>
          </a:p>
          <a:p>
            <a:pPr marL="0" indent="0" algn="l">
              <a:lnSpc>
                <a:spcPts val="1302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    for (int i = 0; i &lt; 50; i++) {</a:t>
            </a:r>
            <a:endParaRPr lang="en-US" sz="800" dirty="0"/>
          </a:p>
          <a:p>
            <a:pPr marL="0" indent="0" algn="l">
              <a:lnSpc>
                <a:spcPts val="1302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access("/etc/hosts", F_OK);</a:t>
            </a:r>
            <a:endParaRPr lang="en-US" sz="800" dirty="0"/>
          </a:p>
          <a:p>
            <a:pPr marL="0" indent="0" algn="l">
              <a:lnSpc>
                <a:spcPts val="1302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}</a:t>
            </a:r>
            <a:endParaRPr lang="en-US" sz="800" dirty="0"/>
          </a:p>
          <a:p>
            <a:pPr marL="0" indent="0" algn="l">
              <a:lnSpc>
                <a:spcPts val="1302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    for (int i = 0; i &lt; 5; i++) {</a:t>
            </a:r>
            <a:endParaRPr lang="en-US" sz="800" dirty="0"/>
          </a:p>
          <a:p>
            <a:pPr marL="0" indent="0" algn="l">
              <a:lnSpc>
                <a:spcPts val="1302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        usleep(100000); </a:t>
            </a:r>
            <a:endParaRPr lang="en-US" sz="800" dirty="0"/>
          </a:p>
          <a:p>
            <a:pPr marL="0" indent="0" algn="l">
              <a:lnSpc>
                <a:spcPts val="1302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    }</a:t>
            </a:r>
            <a:endParaRPr lang="en-US" sz="800" dirty="0"/>
          </a:p>
          <a:p>
            <a:pPr marL="0" indent="0" algn="l">
              <a:lnSpc>
                <a:spcPts val="1302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    return 0;</a:t>
            </a:r>
            <a:endParaRPr lang="en-US" sz="800" dirty="0"/>
          </a:p>
          <a:p>
            <a:pPr marL="0" indent="0" algn="l">
              <a:lnSpc>
                <a:spcPts val="1302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}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947047" y="1144339"/>
            <a:ext cx="3764756" cy="733574"/>
          </a:xfrm>
          <a:prstGeom prst="rect">
            <a:avLst/>
          </a:prstGeom>
          <a:solidFill>
            <a:srgbClr val="F7F7F8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079206" y="1289893"/>
            <a:ext cx="57150" cy="57150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079206" y="1262211"/>
            <a:ext cx="3500438" cy="1493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86"/>
              </a:lnSpc>
              <a:buNone/>
            </a:pPr>
            <a:r>
              <a:rPr lang="ru-RU" sz="800" kern="0" spc="118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З</a:t>
            </a:r>
            <a:r>
              <a:rPr lang="en-US" sz="800" kern="0" spc="118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АДАЧА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079206" y="1439019"/>
            <a:ext cx="3500438" cy="321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4"/>
              </a:lnSpc>
              <a:buNone/>
            </a:pPr>
            <a:r>
              <a:rPr lang="en-US" sz="816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подвисает — хотим узнать, сколько и какие методы занимают наше время</a:t>
            </a:r>
            <a:endParaRPr lang="en-US" sz="816" dirty="0"/>
          </a:p>
        </p:txBody>
      </p:sp>
      <p:sp>
        <p:nvSpPr>
          <p:cNvPr id="16" name="Text 14"/>
          <p:cNvSpPr/>
          <p:nvPr/>
        </p:nvSpPr>
        <p:spPr>
          <a:xfrm>
            <a:off x="4957763" y="2403983"/>
            <a:ext cx="4186238" cy="1565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118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КОМАНДА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34903" y="2575133"/>
            <a:ext cx="1200329" cy="255989"/>
          </a:xfrm>
          <a:prstGeom prst="roundRect">
            <a:avLst>
              <a:gd name="adj" fmla="val 3717142"/>
            </a:avLst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57763" y="2587935"/>
            <a:ext cx="1154609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39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strace -c ./main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258470" y="2904046"/>
            <a:ext cx="227261" cy="135731"/>
          </a:xfrm>
          <a:prstGeom prst="roundRect">
            <a:avLst>
              <a:gd name="adj" fmla="val 35088"/>
            </a:avLst>
          </a:prstGeom>
          <a:solidFill>
            <a:srgbClr val="F7F7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957763" y="2896902"/>
            <a:ext cx="3743325" cy="34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7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Режим </a:t>
            </a:r>
            <a:r>
              <a:rPr lang="en-US" sz="800" dirty="0">
                <a:solidFill>
                  <a:srgbClr val="0A0A0A"/>
                </a:solidFill>
                <a:highlight>
                  <a:srgbClr val="F7F7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-c</a:t>
            </a: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не печатает каждый вызов, а собирает сводную статистику: сколько вызовов, сколько времени, долю процентов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957763" y="3718322"/>
            <a:ext cx="4186238" cy="1422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118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ТРИ ТИПА НАГРУЗКИ В КОДЕ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957763" y="4186238"/>
            <a:ext cx="3743325" cy="0"/>
          </a:xfrm>
          <a:prstGeom prst="line">
            <a:avLst/>
          </a:prstGeom>
          <a:noFill/>
          <a:ln w="7144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7762" y="3942314"/>
            <a:ext cx="1453307" cy="186023"/>
          </a:xfrm>
          <a:prstGeom prst="roundRect">
            <a:avLst>
              <a:gd name="adj" fmla="val 25602"/>
            </a:avLst>
          </a:prstGeom>
          <a:solidFill>
            <a:srgbClr val="F7F7F8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088582" y="3952280"/>
            <a:ext cx="121321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80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printf("line %d\n", i)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490329" y="3980997"/>
            <a:ext cx="2195699" cy="152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510476" y="3980997"/>
            <a:ext cx="263673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b="1" dirty="0">
                <a:solidFill>
                  <a:srgbClr val="0A0A0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×100</a:t>
            </a:r>
            <a:endParaRPr lang="en-US" sz="675" dirty="0"/>
          </a:p>
        </p:txBody>
      </p:sp>
      <p:sp>
        <p:nvSpPr>
          <p:cNvPr id="27" name="Shape 25"/>
          <p:cNvSpPr/>
          <p:nvPr/>
        </p:nvSpPr>
        <p:spPr>
          <a:xfrm>
            <a:off x="4957763" y="4488061"/>
            <a:ext cx="3743325" cy="0"/>
          </a:xfrm>
          <a:prstGeom prst="line">
            <a:avLst/>
          </a:prstGeom>
          <a:noFill/>
          <a:ln w="7144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61333" y="4257675"/>
            <a:ext cx="1449735" cy="158948"/>
          </a:xfrm>
          <a:prstGeom prst="roundRect">
            <a:avLst>
              <a:gd name="adj" fmla="val 29963"/>
            </a:avLst>
          </a:prstGeom>
          <a:solidFill>
            <a:srgbClr val="F7F7F8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957763" y="4254103"/>
            <a:ext cx="1453307" cy="166092"/>
          </a:xfrm>
          <a:prstGeom prst="rect">
            <a:avLst/>
          </a:prstGeom>
          <a:noFill/>
          <a:ln/>
        </p:spPr>
        <p:txBody>
          <a:bodyPr wrap="none" lIns="57150" tIns="14288" rIns="57150" bIns="14288" rtlCol="0" anchor="t"/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647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access("/etc/hosts", F_OK)</a:t>
            </a:r>
            <a:endParaRPr lang="en-US" sz="647" dirty="0"/>
          </a:p>
        </p:txBody>
      </p:sp>
      <p:sp>
        <p:nvSpPr>
          <p:cNvPr id="30" name="Text 28"/>
          <p:cNvSpPr/>
          <p:nvPr/>
        </p:nvSpPr>
        <p:spPr>
          <a:xfrm>
            <a:off x="6453932" y="4267498"/>
            <a:ext cx="2049921" cy="152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файловые проверки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523423" y="4272855"/>
            <a:ext cx="200957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b="1" dirty="0">
                <a:solidFill>
                  <a:srgbClr val="0A0A0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×50</a:t>
            </a:r>
            <a:endParaRPr lang="en-US" sz="675" dirty="0"/>
          </a:p>
        </p:txBody>
      </p:sp>
      <p:sp>
        <p:nvSpPr>
          <p:cNvPr id="32" name="Text 30"/>
          <p:cNvSpPr/>
          <p:nvPr/>
        </p:nvSpPr>
        <p:spPr>
          <a:xfrm>
            <a:off x="4957763" y="4545961"/>
            <a:ext cx="1453306" cy="186023"/>
          </a:xfrm>
          <a:prstGeom prst="roundRect">
            <a:avLst>
              <a:gd name="adj" fmla="val 25602"/>
            </a:avLst>
          </a:prstGeom>
          <a:solidFill>
            <a:srgbClr val="F7F7F8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285761" y="4553544"/>
            <a:ext cx="818852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800" dirty="0">
                <a:solidFill>
                  <a:srgbClr val="0A0A0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usleep(100000)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453932" y="4547604"/>
            <a:ext cx="269297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паузы по 100 мс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523423" y="4574679"/>
            <a:ext cx="16260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×5</a:t>
            </a:r>
            <a:endParaRPr lang="en-US" sz="800" dirty="0"/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8EEF7410-68C0-4EFE-B96C-FD566DE183BB}"/>
              </a:ext>
            </a:extLst>
          </p:cNvPr>
          <p:cNvSpPr/>
          <p:nvPr/>
        </p:nvSpPr>
        <p:spPr>
          <a:xfrm>
            <a:off x="400050" y="669727"/>
            <a:ext cx="8343900" cy="7144"/>
          </a:xfrm>
          <a:prstGeom prst="rect">
            <a:avLst/>
          </a:prstGeom>
          <a:solidFill>
            <a:srgbClr val="D1D5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9094" y="359581"/>
            <a:ext cx="1368266" cy="222028"/>
          </a:xfrm>
          <a:prstGeom prst="roundRect">
            <a:avLst>
              <a:gd name="adj" fmla="val 4285709"/>
            </a:avLst>
          </a:prstGeom>
          <a:noFill/>
          <a:ln w="7144">
            <a:solidFill>
              <a:srgbClr val="0A0A0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371475"/>
            <a:ext cx="1194792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86"/>
              </a:lnSpc>
              <a:buNone/>
            </a:pPr>
            <a:r>
              <a:rPr lang="en-US" sz="800" kern="0" spc="106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STRACE — ПРИМЕР C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731044" y="423436"/>
            <a:ext cx="94046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79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СВОДКА ВЫЗОВОВ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6084" y="813098"/>
            <a:ext cx="7114952" cy="2838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800" b="1" kern="0" spc="-18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c. Таблица-статистика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606442" y="809157"/>
            <a:ext cx="1131793" cy="245274"/>
          </a:xfrm>
          <a:prstGeom prst="roundRect">
            <a:avLst>
              <a:gd name="adj" fmla="val 3879529"/>
            </a:avLst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629302" y="821959"/>
            <a:ext cx="1086073" cy="2196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5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strace -c ./main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28625" y="1553208"/>
            <a:ext cx="5429250" cy="2769543"/>
          </a:xfrm>
          <a:prstGeom prst="roundRect">
            <a:avLst>
              <a:gd name="adj" fmla="val 3439"/>
            </a:avLst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28625" y="1772878"/>
            <a:ext cx="542925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2925" y="1610358"/>
            <a:ext cx="4464174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86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strace -c ./main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99261" y="1626432"/>
            <a:ext cx="722188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86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СВОДКА ВЫЗОВОВ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71500" y="1862175"/>
            <a:ext cx="5143500" cy="2460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4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time     seconds  usecs/call     calls    errors syscall</a:t>
            </a:r>
            <a:endParaRPr lang="en-US" sz="800" dirty="0"/>
          </a:p>
          <a:p>
            <a:pPr marL="0" indent="0" algn="l">
              <a:lnSpc>
                <a:spcPts val="1094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 ----------- ----------- --------- --------- ----------------</a:t>
            </a:r>
            <a:endParaRPr lang="en-US" sz="800" dirty="0"/>
          </a:p>
          <a:p>
            <a:pPr marL="0" indent="0" algn="l">
              <a:lnSpc>
                <a:spcPts val="109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41,32    0,002979          29       101           write</a:t>
            </a:r>
            <a:endParaRPr lang="en-US" sz="800" dirty="0"/>
          </a:p>
          <a:p>
            <a:pPr marL="0" indent="0" algn="l">
              <a:lnSpc>
                <a:spcPts val="1094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18,88    0,001361         272         5           clock_nanosleep</a:t>
            </a:r>
            <a:endParaRPr lang="en-US" sz="800" dirty="0"/>
          </a:p>
          <a:p>
            <a:pPr marL="0" indent="0" algn="l">
              <a:lnSpc>
                <a:spcPts val="1094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17,81    0,001284         160         8           mmap</a:t>
            </a:r>
            <a:endParaRPr lang="en-US" sz="800" dirty="0"/>
          </a:p>
          <a:p>
            <a:pPr marL="0" indent="0" algn="l">
              <a:lnSpc>
                <a:spcPts val="1094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4,73    0,000341         113         3           brk</a:t>
            </a:r>
            <a:endParaRPr lang="en-US" sz="800" dirty="0"/>
          </a:p>
          <a:p>
            <a:pPr marL="0" indent="0" algn="l">
              <a:lnSpc>
                <a:spcPts val="1094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3,54    0,000255          85         3           fstat</a:t>
            </a:r>
            <a:endParaRPr lang="en-US" sz="800" dirty="0"/>
          </a:p>
          <a:p>
            <a:pPr marL="0" indent="0" algn="l">
              <a:lnSpc>
                <a:spcPts val="1094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3,07    0,000221          55         4           mprotect</a:t>
            </a:r>
            <a:endParaRPr lang="en-US" sz="800" dirty="0"/>
          </a:p>
          <a:p>
            <a:pPr marL="0" indent="0" algn="l">
              <a:lnSpc>
                <a:spcPts val="1094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2,98    0,000215           4        51         1 access</a:t>
            </a:r>
            <a:endParaRPr lang="en-US" sz="800" dirty="0"/>
          </a:p>
          <a:p>
            <a:pPr marL="0" indent="0" algn="l">
              <a:lnSpc>
                <a:spcPts val="1094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2,30    0,000166          83         2           close</a:t>
            </a:r>
            <a:endParaRPr lang="en-US" sz="800" dirty="0"/>
          </a:p>
          <a:p>
            <a:pPr marL="0" indent="0" algn="l">
              <a:lnSpc>
                <a:spcPts val="1094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2,26    0,000163         163         1           arch_prctl</a:t>
            </a:r>
            <a:endParaRPr lang="en-US" sz="800" dirty="0"/>
          </a:p>
          <a:p>
            <a:pPr marL="0" indent="0" algn="l">
              <a:lnSpc>
                <a:spcPts val="1094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1,96    0,000141         141         1           read</a:t>
            </a:r>
            <a:endParaRPr lang="en-US" sz="800" dirty="0"/>
          </a:p>
          <a:p>
            <a:pPr marL="0" indent="0" algn="l">
              <a:lnSpc>
                <a:spcPts val="1094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0,75    0,000054          27         2           openat</a:t>
            </a:r>
            <a:endParaRPr lang="en-US" sz="800" dirty="0"/>
          </a:p>
          <a:p>
            <a:pPr marL="0" indent="0" algn="l">
              <a:lnSpc>
                <a:spcPts val="1094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0,42    0,000030          30         1           munmap</a:t>
            </a:r>
            <a:endParaRPr lang="en-US" sz="800" dirty="0"/>
          </a:p>
          <a:p>
            <a:pPr marL="0" indent="0" algn="l">
              <a:lnSpc>
                <a:spcPts val="1094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0,00    0,000000           0         1           execve</a:t>
            </a:r>
            <a:endParaRPr lang="en-US" sz="800" dirty="0"/>
          </a:p>
          <a:p>
            <a:pPr marL="0" indent="0" algn="l">
              <a:lnSpc>
                <a:spcPts val="1094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 ----------- ----------- --------- --------- ----------------</a:t>
            </a:r>
            <a:endParaRPr lang="en-US" sz="800" dirty="0"/>
          </a:p>
          <a:p>
            <a:pPr marL="0" indent="0" algn="l">
              <a:lnSpc>
                <a:spcPts val="1094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100,00    0,007210          39       183         1 total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061472" y="1768748"/>
            <a:ext cx="2650331" cy="1150702"/>
          </a:xfrm>
          <a:prstGeom prst="rect">
            <a:avLst/>
          </a:prstGeom>
          <a:solidFill>
            <a:srgbClr val="FFFFFF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193631" y="1872332"/>
            <a:ext cx="2386013" cy="1493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118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КОЛОНКИ ТАБЛИЦЫ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193631" y="2303525"/>
            <a:ext cx="2386013" cy="0"/>
          </a:xfrm>
          <a:prstGeom prst="line">
            <a:avLst/>
          </a:prstGeom>
          <a:noFill/>
          <a:ln w="7144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93631" y="2082097"/>
            <a:ext cx="447935" cy="184898"/>
          </a:xfrm>
          <a:prstGeom prst="roundRect">
            <a:avLst>
              <a:gd name="adj" fmla="val 20606"/>
            </a:avLst>
          </a:prstGeom>
          <a:solidFill>
            <a:srgbClr val="FFFFFF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193631" y="2092003"/>
            <a:ext cx="447935" cy="165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8"/>
              </a:lnSpc>
              <a:buNone/>
            </a:pPr>
            <a:r>
              <a:rPr lang="en-US" sz="80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time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713004" y="2107518"/>
            <a:ext cx="1866640" cy="149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времени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193631" y="2561481"/>
            <a:ext cx="2386013" cy="0"/>
          </a:xfrm>
          <a:prstGeom prst="line">
            <a:avLst/>
          </a:prstGeom>
          <a:noFill/>
          <a:ln w="7144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93630" y="2340054"/>
            <a:ext cx="447601" cy="184898"/>
          </a:xfrm>
          <a:prstGeom prst="roundRect">
            <a:avLst>
              <a:gd name="adj" fmla="val 20606"/>
            </a:avLst>
          </a:prstGeom>
          <a:solidFill>
            <a:srgbClr val="FFFFFF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222167" y="2342395"/>
            <a:ext cx="387548" cy="165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8"/>
              </a:lnSpc>
              <a:buNone/>
            </a:pPr>
            <a:r>
              <a:rPr lang="en-US" sz="80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713004" y="2365474"/>
            <a:ext cx="1927027" cy="149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вызовов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193631" y="2598010"/>
            <a:ext cx="447935" cy="184898"/>
          </a:xfrm>
          <a:prstGeom prst="roundRect">
            <a:avLst>
              <a:gd name="adj" fmla="val 20606"/>
            </a:avLst>
          </a:prstGeom>
          <a:solidFill>
            <a:srgbClr val="FFFFFF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193631" y="2607915"/>
            <a:ext cx="447935" cy="1650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8"/>
              </a:lnSpc>
              <a:buNone/>
            </a:pPr>
            <a:r>
              <a:rPr lang="en-US" sz="80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713004" y="2623431"/>
            <a:ext cx="18666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ошибки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061472" y="3040893"/>
            <a:ext cx="2650331" cy="839502"/>
          </a:xfrm>
          <a:prstGeom prst="rect">
            <a:avLst/>
          </a:prstGeom>
          <a:solidFill>
            <a:srgbClr val="F7F7F8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193631" y="3172160"/>
            <a:ext cx="57150" cy="57150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193631" y="3144478"/>
            <a:ext cx="2386012" cy="14937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86"/>
              </a:lnSpc>
              <a:buNone/>
            </a:pPr>
            <a:r>
              <a:rPr lang="ru-RU" sz="800" kern="0" spc="118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kern="0" spc="118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ВЕРДИКТ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560878" y="3342717"/>
            <a:ext cx="340333" cy="1143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193631" y="3492178"/>
            <a:ext cx="391232" cy="1143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520360" y="3492178"/>
            <a:ext cx="849437" cy="1143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545014" y="3648782"/>
            <a:ext cx="391232" cy="11430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193631" y="3321286"/>
            <a:ext cx="2386013" cy="455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77"/>
              </a:lnSpc>
              <a:buNone/>
            </a:pPr>
            <a:r>
              <a:rPr lang="en-US" sz="8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Больше всего времени занимает </a:t>
            </a:r>
            <a:r>
              <a:rPr lang="en-US" sz="800" dirty="0">
                <a:solidFill>
                  <a:srgbClr val="0A0A0A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</a:t>
            </a:r>
            <a:r>
              <a:rPr lang="en-US" sz="8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это наш </a:t>
            </a:r>
            <a:r>
              <a:rPr lang="en-US" sz="800" dirty="0">
                <a:solidFill>
                  <a:srgbClr val="0A0A0A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r>
              <a:rPr lang="en-US" sz="8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800" b="1" dirty="0">
                <a:solidFill>
                  <a:srgbClr val="0A0A0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41,32 %</a:t>
            </a:r>
            <a:r>
              <a:rPr lang="en-US" sz="8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Заметен и </a:t>
            </a:r>
            <a:r>
              <a:rPr lang="en-US" sz="800" dirty="0">
                <a:solidFill>
                  <a:srgbClr val="0A0A0A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clock_nanosleep</a:t>
            </a:r>
            <a:r>
              <a:rPr lang="en-US" sz="8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это пять </a:t>
            </a:r>
            <a:r>
              <a:rPr lang="en-US" sz="800" dirty="0">
                <a:solidFill>
                  <a:srgbClr val="0A0A0A"/>
                </a:solidFill>
                <a:highlight>
                  <a:srgbClr val="FFFFFF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usleep</a:t>
            </a:r>
            <a:r>
              <a:rPr lang="en-US" sz="8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 100 мс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057900" y="3998268"/>
            <a:ext cx="287007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47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всего: 183 вызова · 0,007210 c суммарно</a:t>
            </a:r>
            <a:endParaRPr lang="en-US" sz="800" dirty="0"/>
          </a:p>
        </p:txBody>
      </p:sp>
      <p:sp>
        <p:nvSpPr>
          <p:cNvPr id="37" name="Text 4">
            <a:extLst>
              <a:ext uri="{FF2B5EF4-FFF2-40B4-BE49-F238E27FC236}">
                <a16:creationId xmlns:a16="http://schemas.microsoft.com/office/drawing/2014/main" id="{1BCFEC9B-3E11-45ED-99DE-BE83404AC0BC}"/>
              </a:ext>
            </a:extLst>
          </p:cNvPr>
          <p:cNvSpPr/>
          <p:nvPr/>
        </p:nvSpPr>
        <p:spPr>
          <a:xfrm>
            <a:off x="400050" y="669727"/>
            <a:ext cx="8343900" cy="7144"/>
          </a:xfrm>
          <a:prstGeom prst="rect">
            <a:avLst/>
          </a:prstGeom>
          <a:solidFill>
            <a:srgbClr val="D1D5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300413" cy="5143500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5765" y="395299"/>
            <a:ext cx="785879" cy="222028"/>
          </a:xfrm>
          <a:prstGeom prst="roundRect">
            <a:avLst>
              <a:gd name="adj" fmla="val 4285709"/>
            </a:avLst>
          </a:prstGeom>
          <a:noFill/>
          <a:ln w="7144">
            <a:solidFill>
              <a:srgbClr val="FFFFFF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28625" y="407194"/>
            <a:ext cx="740159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86"/>
              </a:lnSpc>
              <a:buNone/>
            </a:pPr>
            <a:r>
              <a:rPr lang="en-US" sz="800" kern="0" spc="118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РАЗДЕЛ 02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39050" y="805458"/>
            <a:ext cx="2936613" cy="709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75"/>
              </a:lnSpc>
              <a:buNone/>
            </a:pPr>
            <a:r>
              <a:rPr lang="en-US" sz="5175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02</a:t>
            </a:r>
            <a:r>
              <a:rPr lang="en-US" sz="1463" b="1" dirty="0">
                <a:solidFill>
                  <a:srgbClr val="FFFFFF">
                    <a:alpha val="40000"/>
                  </a:srgb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/ 04</a:t>
            </a:r>
            <a:endParaRPr lang="en-US" sz="5175" dirty="0"/>
          </a:p>
        </p:txBody>
      </p:sp>
      <p:sp>
        <p:nvSpPr>
          <p:cNvPr id="6" name="Text 4"/>
          <p:cNvSpPr/>
          <p:nvPr/>
        </p:nvSpPr>
        <p:spPr>
          <a:xfrm>
            <a:off x="428625" y="1576983"/>
            <a:ext cx="2557463" cy="401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25"/>
              </a:lnSpc>
              <a:buNone/>
            </a:pPr>
            <a:r>
              <a:rPr lang="en-US" sz="2925" b="1" kern="0" spc="-29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ltrace</a:t>
            </a:r>
            <a:endParaRPr lang="en-US" sz="2925" dirty="0"/>
          </a:p>
        </p:txBody>
      </p:sp>
      <p:sp>
        <p:nvSpPr>
          <p:cNvPr id="7" name="Text 5"/>
          <p:cNvSpPr/>
          <p:nvPr/>
        </p:nvSpPr>
        <p:spPr>
          <a:xfrm>
            <a:off x="428625" y="2119908"/>
            <a:ext cx="2557463" cy="7144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28625" y="2255639"/>
            <a:ext cx="2557463" cy="72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21"/>
              </a:lnSpc>
              <a:buNone/>
            </a:pPr>
            <a:r>
              <a:rPr lang="en-US" sz="816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Показывает вызовы библиотечных функций — </a:t>
            </a: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malloc</a:t>
            </a:r>
            <a:r>
              <a:rPr lang="en-US" sz="816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</a:t>
            </a:r>
            <a:r>
              <a:rPr lang="en-US" sz="816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strcpy</a:t>
            </a:r>
            <a:r>
              <a:rPr lang="en-US" sz="816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r>
              <a:rPr lang="en-US" sz="816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pthread_create</a:t>
            </a:r>
            <a:r>
              <a:rPr lang="en-US" sz="816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00" dirty="0">
                <a:solidFill>
                  <a:srgbClr val="FFFFFF">
                    <a:alpha val="8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SSL_read</a:t>
            </a:r>
            <a:r>
              <a:rPr lang="en-US" sz="816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то, что происходит внутри программы, до того как она обратится к ядру</a:t>
            </a:r>
            <a:endParaRPr lang="en-US" sz="816" dirty="0"/>
          </a:p>
        </p:txBody>
      </p:sp>
      <p:sp>
        <p:nvSpPr>
          <p:cNvPr id="9" name="Shape 7"/>
          <p:cNvSpPr/>
          <p:nvPr/>
        </p:nvSpPr>
        <p:spPr>
          <a:xfrm>
            <a:off x="435769" y="4269284"/>
            <a:ext cx="0" cy="502741"/>
          </a:xfrm>
          <a:prstGeom prst="line">
            <a:avLst/>
          </a:prstGeom>
          <a:noFill/>
          <a:ln w="14288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213" y="4269284"/>
            <a:ext cx="2428875" cy="1422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130" dirty="0">
                <a:solidFill>
                  <a:srgbClr val="FFFFFF">
                    <a:alpha val="55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ПРИМЕР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57213" y="4438948"/>
            <a:ext cx="2428875" cy="333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8"/>
              </a:lnSpc>
              <a:buNone/>
            </a:pPr>
            <a:r>
              <a:rPr lang="en-US" sz="844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Память выделяется через </a:t>
            </a: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malloc</a:t>
            </a:r>
            <a:r>
              <a:rPr lang="en-US" sz="844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и есть подозрение на утечку памяти</a:t>
            </a:r>
            <a:endParaRPr lang="en-US" sz="844" dirty="0"/>
          </a:p>
        </p:txBody>
      </p:sp>
      <p:sp>
        <p:nvSpPr>
          <p:cNvPr id="12" name="Text 10"/>
          <p:cNvSpPr/>
          <p:nvPr/>
        </p:nvSpPr>
        <p:spPr>
          <a:xfrm>
            <a:off x="3643313" y="623292"/>
            <a:ext cx="5100638" cy="3352205"/>
          </a:xfrm>
          <a:prstGeom prst="roundRect">
            <a:avLst>
              <a:gd name="adj" fmla="val 2841"/>
            </a:avLst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643313" y="842963"/>
            <a:ext cx="5100638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57613" y="680442"/>
            <a:ext cx="3980743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86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414152" y="688479"/>
            <a:ext cx="877007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86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· УТЕЧКА ПАМЯТИ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771900" y="939403"/>
            <a:ext cx="4843463" cy="3036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3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800" dirty="0"/>
          </a:p>
          <a:p>
            <a:pPr marL="0" indent="0" algn="l">
              <a:lnSpc>
                <a:spcPts val="1153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&lt;stdlib.h&gt;</a:t>
            </a:r>
            <a:endParaRPr lang="en-US" sz="800" dirty="0"/>
          </a:p>
          <a:p>
            <a:pPr marL="0" indent="0" algn="l">
              <a:lnSpc>
                <a:spcPts val="1153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&lt;string.h&gt;</a:t>
            </a:r>
            <a:endParaRPr lang="en-US" sz="800" dirty="0"/>
          </a:p>
          <a:p>
            <a:pPr marL="0" indent="0" algn="l">
              <a:lnSpc>
                <a:spcPts val="1153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main(void) {</a:t>
            </a:r>
            <a:endParaRPr lang="en-US" sz="800" dirty="0"/>
          </a:p>
          <a:p>
            <a:pPr marL="0" indent="0" algn="l">
              <a:lnSpc>
                <a:spcPts val="1153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char *a = </a:t>
            </a: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malloc(100)</a:t>
            </a: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00" dirty="0"/>
          </a:p>
          <a:p>
            <a:pPr marL="0" indent="0" algn="l">
              <a:lnSpc>
                <a:spcPts val="1153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if (a) {</a:t>
            </a:r>
            <a:endParaRPr lang="en-US" sz="800" dirty="0"/>
          </a:p>
          <a:p>
            <a:pPr marL="0" indent="0" algn="l">
              <a:lnSpc>
                <a:spcPts val="1153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strcpy(a, "hello");</a:t>
            </a:r>
            <a:endParaRPr lang="en-US" sz="800" dirty="0"/>
          </a:p>
          <a:p>
            <a:pPr marL="0" indent="0" algn="l">
              <a:lnSpc>
                <a:spcPts val="1153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printf("   a = \"%s\"\n", a);</a:t>
            </a:r>
            <a:endParaRPr lang="en-US" sz="800" dirty="0"/>
          </a:p>
          <a:p>
            <a:pPr marL="0" indent="0" algn="l">
              <a:lnSpc>
                <a:spcPts val="1153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free(a)</a:t>
            </a: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00" dirty="0"/>
          </a:p>
          <a:p>
            <a:pPr marL="0" indent="0" algn="l">
              <a:lnSpc>
                <a:spcPts val="1153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}</a:t>
            </a:r>
            <a:endParaRPr lang="en-US" sz="800" dirty="0"/>
          </a:p>
          <a:p>
            <a:pPr marL="0" indent="0" algn="l">
              <a:lnSpc>
                <a:spcPts val="1153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char *b = </a:t>
            </a: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malloc(200)</a:t>
            </a: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800" dirty="0"/>
          </a:p>
          <a:p>
            <a:pPr marL="0" indent="0" algn="l">
              <a:lnSpc>
                <a:spcPts val="1153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if (b) {</a:t>
            </a:r>
            <a:endParaRPr lang="en-US" sz="800" dirty="0"/>
          </a:p>
          <a:p>
            <a:pPr marL="0" indent="0" algn="l">
              <a:lnSpc>
                <a:spcPts val="1153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strcpy(b, "утечка");</a:t>
            </a:r>
            <a:endParaRPr lang="en-US" sz="800" dirty="0"/>
          </a:p>
          <a:p>
            <a:pPr marL="0" indent="0" algn="l">
              <a:lnSpc>
                <a:spcPts val="1153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printf("   b = \"%s\"\n", b);</a:t>
            </a:r>
            <a:endParaRPr lang="en-US" sz="800" dirty="0"/>
          </a:p>
          <a:p>
            <a:pPr marL="0" indent="0" algn="l">
              <a:lnSpc>
                <a:spcPts val="1153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}</a:t>
            </a:r>
            <a:endParaRPr lang="en-US" sz="800" dirty="0"/>
          </a:p>
          <a:p>
            <a:pPr marL="0" indent="0" algn="l">
              <a:lnSpc>
                <a:spcPts val="1153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    return 0;</a:t>
            </a:r>
            <a:endParaRPr lang="en-US" sz="800" dirty="0"/>
          </a:p>
          <a:p>
            <a:pPr marL="0" indent="0" algn="l">
              <a:lnSpc>
                <a:spcPts val="1153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646884" y="4093369"/>
            <a:ext cx="5093494" cy="451842"/>
          </a:xfrm>
          <a:prstGeom prst="rect">
            <a:avLst/>
          </a:prstGeom>
          <a:solidFill>
            <a:srgbClr val="F7F7F8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779044" y="4182666"/>
            <a:ext cx="2465022" cy="1225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0A0A0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a → malloc(100) + strcpy + free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779044" y="4332684"/>
            <a:ext cx="246502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 замкнута — память освобождена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190059" y="4096941"/>
            <a:ext cx="7144" cy="444698"/>
          </a:xfrm>
          <a:prstGeom prst="rect">
            <a:avLst/>
          </a:prstGeom>
          <a:solidFill>
            <a:srgbClr val="D1D5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325791" y="4182666"/>
            <a:ext cx="2396550" cy="12258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0A0A0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 → malloc(200)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325791" y="4332684"/>
            <a:ext cx="246502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парного free — подозрение на утечку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5441" y="373868"/>
            <a:ext cx="1203860" cy="222028"/>
          </a:xfrm>
          <a:prstGeom prst="roundRect">
            <a:avLst>
              <a:gd name="adj" fmla="val 4285709"/>
            </a:avLst>
          </a:prstGeom>
          <a:noFill/>
          <a:ln w="7144">
            <a:solidFill>
              <a:srgbClr val="0A0A0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8625" y="385763"/>
            <a:ext cx="1077813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86"/>
              </a:lnSpc>
              <a:buNone/>
            </a:pPr>
            <a:r>
              <a:rPr lang="en-US" sz="800" kern="0" spc="106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LTRACE — ПРИМЕР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212226" y="423875"/>
            <a:ext cx="14105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kern="0" spc="79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LTRACE -E MALLOC+FREE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28625" y="698302"/>
            <a:ext cx="8636000" cy="292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35"/>
              </a:lnSpc>
              <a:buNone/>
            </a:pPr>
            <a:r>
              <a:rPr lang="en-US" sz="1856" b="1" kern="0" spc="-19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и вывод: находим утечку</a:t>
            </a:r>
            <a:endParaRPr lang="en-US" sz="1856" dirty="0"/>
          </a:p>
        </p:txBody>
      </p:sp>
      <p:sp>
        <p:nvSpPr>
          <p:cNvPr id="7" name="Text 5"/>
          <p:cNvSpPr/>
          <p:nvPr/>
        </p:nvSpPr>
        <p:spPr>
          <a:xfrm>
            <a:off x="428625" y="1097905"/>
            <a:ext cx="1878806" cy="230386"/>
          </a:xfrm>
          <a:prstGeom prst="roundRect">
            <a:avLst>
              <a:gd name="adj" fmla="val 4130231"/>
            </a:avLst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28625" y="1097905"/>
            <a:ext cx="1949128" cy="262128"/>
          </a:xfrm>
          <a:prstGeom prst="rect">
            <a:avLst/>
          </a:prstGeom>
          <a:noFill/>
          <a:ln/>
        </p:spPr>
        <p:txBody>
          <a:bodyPr wrap="none" lIns="114300" tIns="42863" rIns="114300" bIns="42863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ltrace -e malloc+free ./main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377753" y="1148135"/>
            <a:ext cx="6337622" cy="1535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команде указываем функции, которые отслеживаем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28625" y="1442591"/>
            <a:ext cx="8286750" cy="1537692"/>
          </a:xfrm>
          <a:prstGeom prst="roundRect">
            <a:avLst>
              <a:gd name="adj" fmla="val 6194"/>
            </a:avLst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28625" y="1662261"/>
            <a:ext cx="8286750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2925" y="1499741"/>
            <a:ext cx="6960580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86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ВЫВОД · LTRACE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375865" y="1499741"/>
            <a:ext cx="1083283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600" kern="0" spc="86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ФИЛЬТР: MALLOC + FREE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57213" y="1758702"/>
            <a:ext cx="8029575" cy="1221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6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main-&gt;malloc(100)</a:t>
            </a: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0x55d48bba72a0</a:t>
            </a:r>
            <a:endParaRPr lang="en-US" sz="800" dirty="0"/>
          </a:p>
          <a:p>
            <a:pPr marL="0" indent="0" algn="l">
              <a:lnSpc>
                <a:spcPts val="1463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a = "hello"</a:t>
            </a:r>
            <a:endParaRPr lang="en-US" sz="800" dirty="0"/>
          </a:p>
          <a:p>
            <a:pPr marL="0" indent="0" algn="l">
              <a:lnSpc>
                <a:spcPts val="1463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main-&gt;free(0x55d48bba72a0) = </a:t>
            </a: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&lt;void&gt;</a:t>
            </a:r>
            <a:endParaRPr lang="en-US" sz="800" dirty="0"/>
          </a:p>
          <a:p>
            <a:pPr marL="0" indent="0" algn="l">
              <a:lnSpc>
                <a:spcPts val="1463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main-&gt;malloc(200)</a:t>
            </a: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800" b="1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0x55d48bba7720</a:t>
            </a:r>
            <a:endParaRPr lang="en-US" sz="800" dirty="0"/>
          </a:p>
          <a:p>
            <a:pPr marL="0" indent="0" algn="l">
              <a:lnSpc>
                <a:spcPts val="1463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b = "утечка"</a:t>
            </a:r>
            <a:endParaRPr lang="en-US" sz="800" dirty="0"/>
          </a:p>
          <a:p>
            <a:pPr marL="0" indent="0" algn="l">
              <a:lnSpc>
                <a:spcPts val="1463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+++ exited (status 0) +++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28625" y="3150840"/>
            <a:ext cx="57150" cy="57150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42925" y="3123158"/>
            <a:ext cx="81724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118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РАЗБОР: ГДЕ УТЕЧКА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32197" y="3324969"/>
            <a:ext cx="2678906" cy="1472059"/>
          </a:xfrm>
          <a:prstGeom prst="rect">
            <a:avLst/>
          </a:prstGeom>
          <a:solidFill>
            <a:srgbClr val="FFFFFF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57213" y="3435697"/>
            <a:ext cx="2428875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dirty="0">
                <a:solidFill>
                  <a:srgbClr val="9CA3A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57213" y="3603575"/>
            <a:ext cx="2428875" cy="333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2"/>
              </a:lnSpc>
              <a:buNone/>
            </a:pPr>
            <a:r>
              <a:rPr lang="en-US" sz="8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Выделили 100 байт — ltrace показал адрес начала выделенной области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57213" y="4504134"/>
            <a:ext cx="2428875" cy="0"/>
          </a:xfrm>
          <a:prstGeom prst="line">
            <a:avLst/>
          </a:prstGeom>
          <a:noFill/>
          <a:ln w="7144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213" y="4500563"/>
            <a:ext cx="2428875" cy="185738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= 0x55d48bba72a0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32547" y="3324969"/>
            <a:ext cx="2678906" cy="1472059"/>
          </a:xfrm>
          <a:prstGeom prst="rect">
            <a:avLst/>
          </a:prstGeom>
          <a:solidFill>
            <a:srgbClr val="FFFFFF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357563" y="3435697"/>
            <a:ext cx="2428875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dirty="0">
                <a:solidFill>
                  <a:srgbClr val="9CA3A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618198" y="3625007"/>
            <a:ext cx="281955" cy="107156"/>
          </a:xfrm>
          <a:prstGeom prst="roundRect">
            <a:avLst>
              <a:gd name="adj" fmla="val 35556"/>
            </a:avLst>
          </a:prstGeom>
          <a:solidFill>
            <a:srgbClr val="F7F7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201753" y="3625007"/>
            <a:ext cx="379958" cy="107156"/>
          </a:xfrm>
          <a:prstGeom prst="roundRect">
            <a:avLst>
              <a:gd name="adj" fmla="val 35556"/>
            </a:avLst>
          </a:prstGeom>
          <a:solidFill>
            <a:srgbClr val="F7F7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357563" y="3603575"/>
            <a:ext cx="2538603" cy="166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2"/>
              </a:lnSpc>
              <a:buNone/>
            </a:pPr>
            <a:r>
              <a:rPr lang="en-US" sz="8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</a:t>
            </a:r>
            <a:r>
              <a:rPr lang="en-US" sz="800" dirty="0">
                <a:solidFill>
                  <a:srgbClr val="0A0A0A"/>
                </a:solidFill>
                <a:highlight>
                  <a:srgbClr val="F7F7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</a:t>
            </a:r>
            <a:r>
              <a:rPr lang="en-US" sz="8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видим </a:t>
            </a:r>
            <a:r>
              <a:rPr lang="en-US" sz="800" dirty="0">
                <a:solidFill>
                  <a:srgbClr val="0A0A0A"/>
                </a:solidFill>
                <a:highlight>
                  <a:srgbClr val="F7F7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&lt;void&gt;</a:t>
            </a:r>
            <a:r>
              <a:rPr lang="en-US" sz="8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память освободилась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357563" y="4504134"/>
            <a:ext cx="2428875" cy="0"/>
          </a:xfrm>
          <a:prstGeom prst="line">
            <a:avLst/>
          </a:prstGeom>
          <a:noFill/>
          <a:ln w="7144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7563" y="4500563"/>
            <a:ext cx="2428875" cy="185738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&lt;void&gt;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032897" y="3321397"/>
            <a:ext cx="2686050" cy="1479203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6150769" y="3428554"/>
            <a:ext cx="2443163" cy="14044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b="1" dirty="0">
                <a:solidFill>
                  <a:srgbClr val="FFFFFF">
                    <a:alpha val="50000"/>
                  </a:srgb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03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129499" y="3668936"/>
            <a:ext cx="2443163" cy="50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12"/>
              </a:lnSpc>
              <a:buNone/>
            </a:pPr>
            <a:r>
              <a:rPr lang="en-US" sz="8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Второй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>
                <a:solidFill>
                  <a:schemeClr val="bg1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malloc(200)</a:t>
            </a:r>
            <a:r>
              <a:rPr lang="en-US" sz="8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остался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без парного </a:t>
            </a: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программа вышла со </a:t>
            </a:r>
            <a:r>
              <a:rPr lang="en-US" sz="8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status 0</a:t>
            </a: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значит, происходит утечка памяти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150769" y="4511278"/>
            <a:ext cx="2443163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50769" y="4507706"/>
            <a:ext cx="2443163" cy="185738"/>
          </a:xfrm>
          <a:prstGeom prst="rect">
            <a:avLst/>
          </a:prstGeom>
          <a:noFill/>
          <a:ln/>
        </p:spPr>
        <p:txBody>
          <a:bodyPr wrap="none" lIns="0" tIns="71438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FFFFFF">
                    <a:alpha val="55000"/>
                  </a:srgbClr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+++ exited (status 0) +++</a:t>
            </a:r>
            <a:endParaRPr lang="en-US" sz="800" dirty="0"/>
          </a:p>
        </p:txBody>
      </p:sp>
      <p:sp>
        <p:nvSpPr>
          <p:cNvPr id="38" name="Text 4">
            <a:extLst>
              <a:ext uri="{FF2B5EF4-FFF2-40B4-BE49-F238E27FC236}">
                <a16:creationId xmlns:a16="http://schemas.microsoft.com/office/drawing/2014/main" id="{76958491-2E92-4D2E-BEF7-65B202B0B911}"/>
              </a:ext>
            </a:extLst>
          </p:cNvPr>
          <p:cNvSpPr/>
          <p:nvPr/>
        </p:nvSpPr>
        <p:spPr>
          <a:xfrm>
            <a:off x="400050" y="669727"/>
            <a:ext cx="8343900" cy="7144"/>
          </a:xfrm>
          <a:prstGeom prst="rect">
            <a:avLst/>
          </a:prstGeom>
          <a:solidFill>
            <a:srgbClr val="D1D5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96841" y="0"/>
            <a:ext cx="0" cy="5143500"/>
          </a:xfrm>
          <a:prstGeom prst="line">
            <a:avLst/>
          </a:prstGeom>
          <a:noFill/>
          <a:ln w="7144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05765" y="395299"/>
            <a:ext cx="785879" cy="222028"/>
          </a:xfrm>
          <a:prstGeom prst="roundRect">
            <a:avLst>
              <a:gd name="adj" fmla="val 4285709"/>
            </a:avLst>
          </a:prstGeom>
          <a:noFill/>
          <a:ln w="7144">
            <a:solidFill>
              <a:srgbClr val="0A0A0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28625" y="407194"/>
            <a:ext cx="740159" cy="1982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86"/>
              </a:lnSpc>
              <a:buNone/>
            </a:pPr>
            <a:r>
              <a:rPr lang="en-US" sz="800" kern="0" spc="118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РАЗДЕЛ 03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235478" y="805458"/>
            <a:ext cx="2936613" cy="7098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75"/>
              </a:lnSpc>
              <a:buNone/>
            </a:pPr>
            <a:r>
              <a:rPr lang="en-US" sz="5175" b="1" dirty="0">
                <a:solidFill>
                  <a:srgbClr val="0A0A0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03</a:t>
            </a:r>
            <a:r>
              <a:rPr lang="en-US" sz="1463" b="1" dirty="0">
                <a:solidFill>
                  <a:srgbClr val="9CA3A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 / 04</a:t>
            </a:r>
            <a:endParaRPr lang="en-US" sz="5175" dirty="0"/>
          </a:p>
        </p:txBody>
      </p:sp>
      <p:sp>
        <p:nvSpPr>
          <p:cNvPr id="6" name="Text 4"/>
          <p:cNvSpPr/>
          <p:nvPr/>
        </p:nvSpPr>
        <p:spPr>
          <a:xfrm>
            <a:off x="428625" y="1576983"/>
            <a:ext cx="2550319" cy="401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25"/>
              </a:lnSpc>
              <a:buNone/>
            </a:pPr>
            <a:r>
              <a:rPr lang="en-US" sz="2925" b="1" kern="0" spc="-29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</a:t>
            </a:r>
            <a:endParaRPr lang="en-US" sz="2925" dirty="0"/>
          </a:p>
        </p:txBody>
      </p:sp>
      <p:sp>
        <p:nvSpPr>
          <p:cNvPr id="7" name="Text 5"/>
          <p:cNvSpPr/>
          <p:nvPr/>
        </p:nvSpPr>
        <p:spPr>
          <a:xfrm>
            <a:off x="428625" y="2119908"/>
            <a:ext cx="2550319" cy="14288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28625" y="2262783"/>
            <a:ext cx="2550319" cy="543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21"/>
              </a:lnSpc>
              <a:buNone/>
            </a:pPr>
            <a:r>
              <a:rPr lang="en-US" sz="816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Показывает, на что программа тратит время: время от </a:t>
            </a:r>
            <a:r>
              <a:rPr lang="en-US" sz="816" dirty="0" err="1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времени</a:t>
            </a:r>
            <a:r>
              <a:rPr lang="en-US" sz="816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816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</a:t>
            </a:r>
            <a:r>
              <a:rPr lang="en-US" sz="816" dirty="0" err="1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подглядывает</a:t>
            </a:r>
            <a:r>
              <a:rPr lang="ru-RU" sz="816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r>
              <a:rPr lang="en-US" sz="816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чем занят процессор, и записывает, какая функция сейчас выполняется</a:t>
            </a:r>
            <a:endParaRPr lang="en-US" sz="816" dirty="0"/>
          </a:p>
        </p:txBody>
      </p:sp>
      <p:sp>
        <p:nvSpPr>
          <p:cNvPr id="9" name="Text 7"/>
          <p:cNvSpPr/>
          <p:nvPr/>
        </p:nvSpPr>
        <p:spPr>
          <a:xfrm>
            <a:off x="428625" y="4066580"/>
            <a:ext cx="2550319" cy="705445"/>
          </a:xfrm>
          <a:prstGeom prst="rect">
            <a:avLst/>
          </a:prstGeom>
          <a:solidFill>
            <a:srgbClr val="F7F7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28625" y="4070152"/>
            <a:ext cx="2550319" cy="0"/>
          </a:xfrm>
          <a:prstGeom prst="line">
            <a:avLst/>
          </a:prstGeom>
          <a:noFill/>
          <a:ln w="7144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75372" y="4066580"/>
            <a:ext cx="0" cy="705445"/>
          </a:xfrm>
          <a:prstGeom prst="line">
            <a:avLst/>
          </a:prstGeom>
          <a:noFill/>
          <a:ln w="7144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8625" y="4768453"/>
            <a:ext cx="2550319" cy="0"/>
          </a:xfrm>
          <a:prstGeom prst="line">
            <a:avLst/>
          </a:prstGeom>
          <a:noFill/>
          <a:ln w="7144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5769" y="4066580"/>
            <a:ext cx="0" cy="705445"/>
          </a:xfrm>
          <a:prstGeom prst="line">
            <a:avLst/>
          </a:prstGeom>
          <a:noFill/>
          <a:ln w="14288">
            <a:solidFill>
              <a:srgbClr val="0A0A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213" y="4173736"/>
            <a:ext cx="2300288" cy="1422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13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ПРИМЕР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57213" y="4343400"/>
            <a:ext cx="2300288" cy="321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Какая из функций больше всего использует время и </a:t>
            </a:r>
            <a:r>
              <a:rPr lang="en-US" sz="844" dirty="0" err="1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является</a:t>
            </a:r>
            <a:r>
              <a:rPr lang="en-US" sz="844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844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</a:t>
            </a:r>
            <a:r>
              <a:rPr lang="en-US" sz="844" dirty="0" err="1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горячей</a:t>
            </a:r>
            <a:r>
              <a:rPr lang="ru-RU" sz="844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r>
              <a:rPr lang="en-US" sz="844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844" dirty="0"/>
          </a:p>
        </p:txBody>
      </p:sp>
      <p:sp>
        <p:nvSpPr>
          <p:cNvPr id="16" name="Text 14"/>
          <p:cNvSpPr/>
          <p:nvPr/>
        </p:nvSpPr>
        <p:spPr>
          <a:xfrm>
            <a:off x="3643313" y="355736"/>
            <a:ext cx="5100638" cy="3824808"/>
          </a:xfrm>
          <a:prstGeom prst="roundRect">
            <a:avLst>
              <a:gd name="adj" fmla="val 2490"/>
            </a:avLst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643313" y="575407"/>
            <a:ext cx="5100638" cy="0"/>
          </a:xfrm>
          <a:prstGeom prst="line">
            <a:avLst/>
          </a:prstGeom>
          <a:noFill/>
          <a:ln w="7144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57613" y="412886"/>
            <a:ext cx="4135562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800" kern="0" spc="86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907462" y="412886"/>
            <a:ext cx="722188" cy="1017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02"/>
              </a:lnSpc>
              <a:buNone/>
            </a:pPr>
            <a:r>
              <a:rPr lang="en-US" sz="600" kern="0" spc="86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· HOT / COLD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3771900" y="664704"/>
            <a:ext cx="4843463" cy="3515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35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800" dirty="0"/>
          </a:p>
          <a:p>
            <a:pPr marL="0" indent="0" algn="l">
              <a:lnSpc>
                <a:spcPts val="1035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&lt;math.h&gt;</a:t>
            </a:r>
            <a:endParaRPr lang="en-US" sz="800" dirty="0"/>
          </a:p>
          <a:p>
            <a:pPr marL="0" indent="0" algn="l">
              <a:lnSpc>
                <a:spcPts val="1035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</a:t>
            </a: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hot_function</a:t>
            </a: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(void) {</a:t>
            </a:r>
            <a:endParaRPr lang="en-US" sz="800" dirty="0"/>
          </a:p>
          <a:p>
            <a:pPr marL="0" indent="0" algn="l">
              <a:lnSpc>
                <a:spcPts val="1035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    double sum = 0;</a:t>
            </a:r>
            <a:endParaRPr lang="en-US" sz="800" dirty="0"/>
          </a:p>
          <a:p>
            <a:pPr marL="0" indent="0" algn="l">
              <a:lnSpc>
                <a:spcPts val="1035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for (int i = 0; i &lt; 100000000; i++) {</a:t>
            </a:r>
            <a:endParaRPr lang="en-US" sz="800" dirty="0"/>
          </a:p>
          <a:p>
            <a:pPr marL="0" indent="0" algn="l">
              <a:lnSpc>
                <a:spcPts val="1035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sum += sin(i) * cos(i);</a:t>
            </a:r>
            <a:endParaRPr lang="en-US" sz="800" dirty="0"/>
          </a:p>
          <a:p>
            <a:pPr marL="0" indent="0" algn="l">
              <a:lnSpc>
                <a:spcPts val="1035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}</a:t>
            </a:r>
            <a:endParaRPr lang="en-US" sz="800" dirty="0"/>
          </a:p>
          <a:p>
            <a:pPr marL="0" indent="0" algn="l">
              <a:lnSpc>
                <a:spcPts val="1035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printf("hot: %f\n", sum);</a:t>
            </a:r>
            <a:endParaRPr lang="en-US" sz="800" dirty="0"/>
          </a:p>
          <a:p>
            <a:pPr marL="0" indent="0" algn="l">
              <a:lnSpc>
                <a:spcPts val="1035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marL="0" indent="0" algn="l">
              <a:lnSpc>
                <a:spcPts val="1035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</a:t>
            </a: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cold_function</a:t>
            </a: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(void) {</a:t>
            </a:r>
            <a:endParaRPr lang="en-US" sz="800" dirty="0"/>
          </a:p>
          <a:p>
            <a:pPr marL="0" indent="0" algn="l">
              <a:lnSpc>
                <a:spcPts val="1035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    long sum = 0;</a:t>
            </a:r>
            <a:endParaRPr lang="en-US" sz="800" dirty="0"/>
          </a:p>
          <a:p>
            <a:pPr marL="0" indent="0" algn="l">
              <a:lnSpc>
                <a:spcPts val="1035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    for (int i = 0; i &lt; 5000000; i++) {   </a:t>
            </a: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 10 раз меньше итераций</a:t>
            </a:r>
            <a:endParaRPr lang="en-US" sz="800" dirty="0"/>
          </a:p>
          <a:p>
            <a:pPr marL="0" indent="0" algn="l">
              <a:lnSpc>
                <a:spcPts val="1035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        sum += i * 2;</a:t>
            </a:r>
            <a:endParaRPr lang="en-US" sz="800" dirty="0"/>
          </a:p>
          <a:p>
            <a:pPr marL="0" indent="0" algn="l">
              <a:lnSpc>
                <a:spcPts val="1035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}</a:t>
            </a:r>
            <a:endParaRPr lang="en-US" sz="800" dirty="0"/>
          </a:p>
          <a:p>
            <a:pPr marL="0" indent="0" algn="l">
              <a:lnSpc>
                <a:spcPts val="1035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printf("cold: %ld\n", sum);</a:t>
            </a:r>
            <a:endParaRPr lang="en-US" sz="800" dirty="0"/>
          </a:p>
          <a:p>
            <a:pPr marL="0" indent="0" algn="l">
              <a:lnSpc>
                <a:spcPts val="1035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marL="0" indent="0" algn="l">
              <a:lnSpc>
                <a:spcPts val="1035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main(void) {</a:t>
            </a:r>
            <a:endParaRPr lang="en-US" sz="800" dirty="0"/>
          </a:p>
          <a:p>
            <a:pPr marL="0" indent="0" algn="l">
              <a:lnSpc>
                <a:spcPts val="1035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    for (int i = 0; i &lt; 5; i++) {</a:t>
            </a:r>
            <a:endParaRPr lang="en-US" sz="800" dirty="0"/>
          </a:p>
          <a:p>
            <a:pPr marL="0" indent="0" algn="l">
              <a:lnSpc>
                <a:spcPts val="1035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hot_function</a:t>
            </a: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</a:t>
            </a:r>
            <a:endParaRPr lang="en-US" sz="800" dirty="0"/>
          </a:p>
          <a:p>
            <a:pPr marL="0" indent="0" algn="l">
              <a:lnSpc>
                <a:spcPts val="1035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</a:t>
            </a: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cold_function</a:t>
            </a:r>
            <a:r>
              <a:rPr lang="en-US" sz="800" dirty="0">
                <a:solidFill>
                  <a:srgbClr val="F5F5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();</a:t>
            </a:r>
            <a:endParaRPr lang="en-US" sz="800" dirty="0"/>
          </a:p>
          <a:p>
            <a:pPr marL="0" indent="0" algn="l">
              <a:lnSpc>
                <a:spcPts val="1035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    }</a:t>
            </a:r>
            <a:endParaRPr lang="en-US" sz="800" dirty="0"/>
          </a:p>
          <a:p>
            <a:pPr marL="0" indent="0" algn="l">
              <a:lnSpc>
                <a:spcPts val="1035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    return 0;</a:t>
            </a:r>
            <a:endParaRPr lang="en-US" sz="800" dirty="0"/>
          </a:p>
          <a:p>
            <a:pPr marL="0" indent="0" algn="l">
              <a:lnSpc>
                <a:spcPts val="1035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}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46884" y="4284129"/>
            <a:ext cx="5093494" cy="542925"/>
          </a:xfrm>
          <a:prstGeom prst="rect">
            <a:avLst/>
          </a:prstGeom>
          <a:solidFill>
            <a:srgbClr val="F7F7F8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750469" y="4366282"/>
            <a:ext cx="1826508" cy="1172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800" b="1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hot_function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750469" y="4510943"/>
            <a:ext cx="1636376" cy="99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100 000 000 итераций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750469" y="4637745"/>
            <a:ext cx="163637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sin(i) * cos(i)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408935" y="4287701"/>
            <a:ext cx="7144" cy="535781"/>
          </a:xfrm>
          <a:prstGeom prst="rect">
            <a:avLst/>
          </a:prstGeom>
          <a:solidFill>
            <a:srgbClr val="D1D5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516091" y="4366282"/>
            <a:ext cx="1826508" cy="1172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800" b="1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cold_function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516091" y="4510943"/>
            <a:ext cx="1636376" cy="99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5 000 000 итераций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516091" y="4637745"/>
            <a:ext cx="163637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 10 раз меньше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7174557" y="4287701"/>
            <a:ext cx="7144" cy="535781"/>
          </a:xfrm>
          <a:prstGeom prst="rect">
            <a:avLst/>
          </a:prstGeom>
          <a:solidFill>
            <a:srgbClr val="D1D5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281714" y="4366282"/>
            <a:ext cx="1455093" cy="1172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62500" lnSpcReduction="20000"/>
          </a:bodyPr>
          <a:lstStyle/>
          <a:p>
            <a:pPr marL="0" indent="0" algn="l">
              <a:lnSpc>
                <a:spcPts val="970"/>
              </a:lnSpc>
              <a:buNone/>
            </a:pPr>
            <a:r>
              <a:rPr lang="en-US" sz="800" b="1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281714" y="4510943"/>
            <a:ext cx="1455093" cy="99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вызывает обе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281714" y="4637745"/>
            <a:ext cx="145509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 5 раз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389013"/>
            <a:ext cx="1515110" cy="206026"/>
          </a:xfrm>
          <a:prstGeom prst="roundRect">
            <a:avLst>
              <a:gd name="adj" fmla="val 4618580"/>
            </a:avLst>
          </a:prstGeom>
          <a:noFill/>
          <a:ln w="7144">
            <a:solidFill>
              <a:srgbClr val="0A0A0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8631" y="463451"/>
            <a:ext cx="57150" cy="57150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0075" y="435769"/>
            <a:ext cx="936278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106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РАЗДЕЛ 03 · PERF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240290" y="433090"/>
            <a:ext cx="142507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профилирование времени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00050" y="769739"/>
            <a:ext cx="8636000" cy="263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18"/>
              </a:lnSpc>
              <a:buNone/>
            </a:pPr>
            <a:r>
              <a:rPr lang="en-US" sz="1744" b="1" kern="0" spc="-17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 record → perf report</a:t>
            </a:r>
            <a:endParaRPr lang="en-US" sz="1744" dirty="0"/>
          </a:p>
        </p:txBody>
      </p:sp>
      <p:sp>
        <p:nvSpPr>
          <p:cNvPr id="7" name="Text 5"/>
          <p:cNvSpPr/>
          <p:nvPr/>
        </p:nvSpPr>
        <p:spPr>
          <a:xfrm>
            <a:off x="400050" y="1113309"/>
            <a:ext cx="1993900" cy="191095"/>
          </a:xfrm>
          <a:prstGeom prst="roundRect">
            <a:avLst>
              <a:gd name="adj" fmla="val 4979447"/>
            </a:avLst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0050" y="1113309"/>
            <a:ext cx="2232868" cy="199382"/>
          </a:xfrm>
          <a:prstGeom prst="rect">
            <a:avLst/>
          </a:prstGeom>
          <a:noFill/>
          <a:ln/>
        </p:spPr>
        <p:txBody>
          <a:bodyPr wrap="square" lIns="71438" tIns="28575" rIns="71438" bIns="28575" rtlCol="0" anchor="t">
            <a:normAutofit fontScale="77500" lnSpcReduction="20000"/>
          </a:bodyPr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 record -g --user-callchains ./main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325835" y="1354410"/>
            <a:ext cx="887388" cy="100013"/>
          </a:xfrm>
          <a:prstGeom prst="roundRect">
            <a:avLst>
              <a:gd name="adj" fmla="val 38095"/>
            </a:avLst>
          </a:prstGeom>
          <a:solidFill>
            <a:srgbClr val="F7F7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00050" y="1340123"/>
            <a:ext cx="3783732" cy="159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675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собираем профиль; флаг </a:t>
            </a:r>
            <a:r>
              <a:rPr lang="en-US" sz="675" dirty="0">
                <a:solidFill>
                  <a:srgbClr val="6B7280"/>
                </a:solidFill>
                <a:highlight>
                  <a:srgbClr val="F7F7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--user-callchains</a:t>
            </a:r>
            <a:r>
              <a:rPr lang="en-US" sz="675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ограничивает сбор пользовательским пространством</a:t>
            </a:r>
            <a:endParaRPr lang="en-US" sz="675" dirty="0"/>
          </a:p>
        </p:txBody>
      </p:sp>
      <p:sp>
        <p:nvSpPr>
          <p:cNvPr id="11" name="Text 9"/>
          <p:cNvSpPr/>
          <p:nvPr/>
        </p:nvSpPr>
        <p:spPr>
          <a:xfrm>
            <a:off x="4340944" y="1106165"/>
            <a:ext cx="7144" cy="361094"/>
          </a:xfrm>
          <a:prstGeom prst="rect">
            <a:avLst/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482391" y="1093842"/>
            <a:ext cx="792353" cy="230029"/>
          </a:xfrm>
          <a:prstGeom prst="roundRect">
            <a:avLst>
              <a:gd name="adj" fmla="val 4136641"/>
            </a:avLst>
          </a:prstGeom>
          <a:noFill/>
          <a:ln w="7144">
            <a:solidFill>
              <a:srgbClr val="0A0A0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05251" y="1106165"/>
            <a:ext cx="746633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55"/>
              </a:lnSpc>
              <a:buNone/>
            </a:pPr>
            <a:r>
              <a:rPr lang="en-US" sz="800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 report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05251" y="1347267"/>
            <a:ext cx="875054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5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смотрим результат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00050" y="1567272"/>
            <a:ext cx="8343900" cy="2791420"/>
          </a:xfrm>
          <a:prstGeom prst="roundRect">
            <a:avLst>
              <a:gd name="adj" fmla="val 3412"/>
            </a:avLst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00050" y="1797658"/>
            <a:ext cx="8343900" cy="0"/>
          </a:xfrm>
          <a:prstGeom prst="line">
            <a:avLst/>
          </a:prstGeom>
          <a:noFill/>
          <a:ln w="7144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4350" y="1648532"/>
            <a:ext cx="64294" cy="64294"/>
          </a:xfrm>
          <a:prstGeom prst="roundRect">
            <a:avLst>
              <a:gd name="adj" fmla="val 148132757"/>
            </a:avLst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21506" y="1648532"/>
            <a:ext cx="64294" cy="64294"/>
          </a:xfrm>
          <a:prstGeom prst="roundRect">
            <a:avLst>
              <a:gd name="adj" fmla="val 148132757"/>
            </a:avLst>
          </a:prstGeom>
          <a:solidFill>
            <a:srgbClr val="9CA3A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28663" y="1648532"/>
            <a:ext cx="64294" cy="64294"/>
          </a:xfrm>
          <a:prstGeom prst="roundRect">
            <a:avLst>
              <a:gd name="adj" fmla="val 148132757"/>
            </a:avLst>
          </a:prstGeom>
          <a:solidFill>
            <a:srgbClr val="6B728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729314" y="1624422"/>
            <a:ext cx="900336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6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 report · ./main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528638" y="1872667"/>
            <a:ext cx="8086725" cy="24860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788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Samples: 55K of event 'cpu-clock:ppp', Event count (approx.): 13887500000</a:t>
            </a:r>
            <a:endParaRPr lang="en-US" sz="800" dirty="0"/>
          </a:p>
          <a:p>
            <a:pPr marL="0" indent="0" algn="l">
              <a:lnSpc>
                <a:spcPts val="788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Children      Self  Command  Shared Object      Symbol</a:t>
            </a:r>
            <a:endParaRPr lang="en-US" sz="800" dirty="0"/>
          </a:p>
          <a:p>
            <a:pPr marL="0" indent="0" algn="l">
              <a:lnSpc>
                <a:spcPts val="788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41,28%    41,28%  main     [kernel.kallsyms]  [k] __softirqentry_text_start</a:t>
            </a:r>
            <a:endParaRPr lang="en-US" sz="800" dirty="0"/>
          </a:p>
          <a:p>
            <a:pPr marL="0" indent="0" algn="l">
              <a:lnSpc>
                <a:spcPts val="788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20,12%     0,00%  main     libc-2.32.so       [.] __libc_start_main</a:t>
            </a:r>
            <a:endParaRPr lang="en-US" sz="800" dirty="0"/>
          </a:p>
          <a:p>
            <a:pPr marL="0" indent="0" algn="l">
              <a:lnSpc>
                <a:spcPts val="788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20,12%     0,00%  main     main               [.] main</a:t>
            </a:r>
            <a:endParaRPr lang="en-US" sz="800" dirty="0"/>
          </a:p>
          <a:p>
            <a:pPr marL="0" indent="0" algn="l">
              <a:lnSpc>
                <a:spcPts val="788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10,86%    10,86%  main     [vboxguest]        [k] vbg_req_perform</a:t>
            </a:r>
            <a:endParaRPr lang="en-US" sz="800" dirty="0"/>
          </a:p>
          <a:p>
            <a:pPr marL="0" indent="0" algn="l">
              <a:lnSpc>
                <a:spcPts val="788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5,20%     2,44%  main     main               [.] </a:t>
            </a: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hot_function</a:t>
            </a:r>
            <a:endParaRPr lang="en-US" sz="800" dirty="0"/>
          </a:p>
          <a:p>
            <a:pPr marL="0" indent="0" algn="l">
              <a:lnSpc>
                <a:spcPts val="788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4,81%     0,00%  main     libm-2.32.so       [.] 0x00007f3adf6e355d</a:t>
            </a:r>
            <a:endParaRPr lang="en-US" sz="800" dirty="0"/>
          </a:p>
          <a:p>
            <a:pPr marL="0" indent="0" algn="l">
              <a:lnSpc>
                <a:spcPts val="788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4,76%     0,00%  main     libm-2.32.so       [.] 0x00007f3adf6e3f00</a:t>
            </a:r>
            <a:endParaRPr lang="en-US" sz="800" dirty="0"/>
          </a:p>
          <a:p>
            <a:pPr marL="0" indent="0" algn="l">
              <a:lnSpc>
                <a:spcPts val="788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2,78%     0,00%  main     libm-2.32.so       [.] 0x00007f3adf6e3541</a:t>
            </a:r>
            <a:endParaRPr lang="en-US" sz="800" dirty="0"/>
          </a:p>
          <a:p>
            <a:pPr marL="0" indent="0" algn="l">
              <a:lnSpc>
                <a:spcPts val="788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2,61%     2,61%  main     [kernel.kallsyms]  [k] finish_task_switch</a:t>
            </a:r>
            <a:endParaRPr lang="en-US" sz="800" dirty="0"/>
          </a:p>
          <a:p>
            <a:pPr marL="0" indent="0" algn="l">
              <a:lnSpc>
                <a:spcPts val="788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2,07%     0,00%  main     libm-2.32.so       [.] 0x00007f3adf6e38d0</a:t>
            </a:r>
            <a:endParaRPr lang="en-US" sz="800" dirty="0"/>
          </a:p>
          <a:p>
            <a:pPr marL="0" indent="0" algn="l">
              <a:lnSpc>
                <a:spcPts val="788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2,03%     2,03%  main     libm-2.32.so       [.] 0x000000000003355d</a:t>
            </a:r>
            <a:endParaRPr lang="en-US" sz="800" dirty="0"/>
          </a:p>
          <a:p>
            <a:pPr marL="0" indent="0" algn="l">
              <a:lnSpc>
                <a:spcPts val="788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1,95%     1,95%  main     [kernel.kallsyms]  [k] _raw_spin_unlock_irqrestore</a:t>
            </a:r>
            <a:endParaRPr lang="en-US" sz="800" dirty="0"/>
          </a:p>
          <a:p>
            <a:pPr marL="0" indent="0" algn="l">
              <a:lnSpc>
                <a:spcPts val="788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1,87%     1,87%  main     libm-2.32.so       [.] 0x0000000000033f00</a:t>
            </a:r>
            <a:endParaRPr lang="en-US" sz="800" dirty="0"/>
          </a:p>
          <a:p>
            <a:pPr marL="0" indent="0" algn="l">
              <a:lnSpc>
                <a:spcPts val="788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1,84%     0,00%  main     libm-2.32.so       [.] 0x00007f3adf6e38e4</a:t>
            </a:r>
            <a:endParaRPr lang="en-US" sz="800" dirty="0"/>
          </a:p>
          <a:p>
            <a:pPr marL="0" indent="0" algn="l">
              <a:lnSpc>
                <a:spcPts val="788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1,47%     0,00%  main     libm-2.32.so       [.] 0x00007f3adf6e38fa</a:t>
            </a:r>
            <a:endParaRPr lang="en-US" sz="800" dirty="0"/>
          </a:p>
          <a:p>
            <a:pPr marL="0" indent="0" algn="l">
              <a:lnSpc>
                <a:spcPts val="788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1,34%     0,00%  main     libm-2.32.so       [.] 0x00007f3adf6e38d4</a:t>
            </a:r>
            <a:endParaRPr lang="en-US" sz="800" dirty="0"/>
          </a:p>
          <a:p>
            <a:pPr marL="0" indent="0" algn="l">
              <a:lnSpc>
                <a:spcPts val="788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1,31%     0,00%  main     libm-2.32.so       [.] 0x00007f3adf6e3f04</a:t>
            </a:r>
            <a:endParaRPr lang="en-US" sz="800" dirty="0"/>
          </a:p>
          <a:p>
            <a:pPr marL="0" indent="0" algn="l">
              <a:lnSpc>
                <a:spcPts val="788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1,22%     1,22%  main     libm-2.32.so       [.] 0x0000000000033541</a:t>
            </a:r>
            <a:endParaRPr lang="en-US" sz="800" dirty="0"/>
          </a:p>
          <a:p>
            <a:pPr marL="0" indent="0" algn="l">
              <a:lnSpc>
                <a:spcPts val="788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1,19%     0,00%  main     libm-2.32.so       [.] 0x00007f3adf6e3561</a:t>
            </a:r>
            <a:endParaRPr lang="en-US" sz="800" dirty="0"/>
          </a:p>
          <a:p>
            <a:pPr marL="0" indent="0" algn="l">
              <a:lnSpc>
                <a:spcPts val="788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1,17%     0,00%  main     libm-2.32.so       [.] 0x00007f3adf6e4261</a:t>
            </a:r>
            <a:endParaRPr lang="en-US" sz="800" dirty="0"/>
          </a:p>
          <a:p>
            <a:pPr marL="0" indent="0" algn="l">
              <a:lnSpc>
                <a:spcPts val="788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1,10%     0,00%  main     libm-2.32.so       [.] 0x00007f3adf6e4253</a:t>
            </a:r>
            <a:endParaRPr lang="en-US" sz="800" dirty="0"/>
          </a:p>
          <a:p>
            <a:pPr marL="0" indent="0" algn="l">
              <a:lnSpc>
                <a:spcPts val="788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   1,09%     0,23%  main     main               [.] </a:t>
            </a: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cold_function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03622" y="4462276"/>
            <a:ext cx="4107656" cy="320353"/>
          </a:xfrm>
          <a:prstGeom prst="rect">
            <a:avLst/>
          </a:prstGeom>
          <a:solidFill>
            <a:srgbClr val="F7F7F8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21494" y="4587292"/>
            <a:ext cx="57150" cy="57150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64369" y="4551573"/>
            <a:ext cx="3729038" cy="141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4"/>
              </a:lnSpc>
              <a:buNone/>
            </a:pPr>
            <a:r>
              <a:rPr lang="en-US" sz="720" b="1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Children</a:t>
            </a:r>
            <a:r>
              <a:rPr lang="en-US" sz="72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сколько времени проведено в функции (включая всё, что она вызывала)</a:t>
            </a:r>
            <a:endParaRPr lang="en-US" sz="720" dirty="0"/>
          </a:p>
        </p:txBody>
      </p:sp>
      <p:sp>
        <p:nvSpPr>
          <p:cNvPr id="25" name="Text 23"/>
          <p:cNvSpPr/>
          <p:nvPr/>
        </p:nvSpPr>
        <p:spPr>
          <a:xfrm>
            <a:off x="4632722" y="4462276"/>
            <a:ext cx="4107656" cy="320353"/>
          </a:xfrm>
          <a:prstGeom prst="rect">
            <a:avLst/>
          </a:prstGeom>
          <a:solidFill>
            <a:srgbClr val="F7F7F8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50594" y="4587292"/>
            <a:ext cx="57150" cy="57150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93469" y="4551573"/>
            <a:ext cx="3729038" cy="141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4"/>
              </a:lnSpc>
              <a:buNone/>
            </a:pPr>
            <a:r>
              <a:rPr lang="en-US" sz="800" b="1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r>
              <a:rPr lang="en-US" sz="8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сколько времени заняли циклы и условия самой функции</a:t>
            </a:r>
            <a:endParaRPr lang="en-US" sz="800" dirty="0"/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8B272FA0-6926-4AC1-95C2-4FD9A232AC5C}"/>
              </a:ext>
            </a:extLst>
          </p:cNvPr>
          <p:cNvSpPr/>
          <p:nvPr/>
        </p:nvSpPr>
        <p:spPr>
          <a:xfrm>
            <a:off x="400050" y="669727"/>
            <a:ext cx="8343900" cy="7144"/>
          </a:xfrm>
          <a:prstGeom prst="rect">
            <a:avLst/>
          </a:prstGeom>
          <a:solidFill>
            <a:srgbClr val="D1D5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1974" y="389906"/>
            <a:ext cx="827876" cy="206026"/>
          </a:xfrm>
          <a:prstGeom prst="roundRect">
            <a:avLst>
              <a:gd name="adj" fmla="val 4618580"/>
            </a:avLst>
          </a:prstGeom>
          <a:noFill/>
          <a:ln w="7144">
            <a:solidFill>
              <a:srgbClr val="0A0A0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92701" y="436662"/>
            <a:ext cx="541487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106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РАЗДЕЛ 04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00050" y="727770"/>
            <a:ext cx="4869180" cy="762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8"/>
              </a:lnSpc>
              <a:buNone/>
            </a:pPr>
            <a:r>
              <a:rPr lang="en-US" sz="5850" b="1" kern="0" spc="-234" dirty="0">
                <a:solidFill>
                  <a:srgbClr val="0A0A0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04</a:t>
            </a:r>
            <a:endParaRPr lang="en-US" sz="5850" dirty="0"/>
          </a:p>
        </p:txBody>
      </p:sp>
      <p:sp>
        <p:nvSpPr>
          <p:cNvPr id="6" name="Text 4"/>
          <p:cNvSpPr/>
          <p:nvPr/>
        </p:nvSpPr>
        <p:spPr>
          <a:xfrm>
            <a:off x="400050" y="1547850"/>
            <a:ext cx="328613" cy="14288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00050" y="1662150"/>
            <a:ext cx="4808315" cy="43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150" b="1" kern="0" spc="-63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lft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2423182" y="2921794"/>
            <a:ext cx="643049" cy="121444"/>
          </a:xfrm>
          <a:prstGeom prst="roundRect">
            <a:avLst>
              <a:gd name="adj" fmla="val 31372"/>
            </a:avLst>
          </a:prstGeom>
          <a:solidFill>
            <a:srgbClr val="F7F7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906042" y="3094248"/>
            <a:ext cx="197234" cy="121444"/>
          </a:xfrm>
          <a:prstGeom prst="roundRect">
            <a:avLst>
              <a:gd name="adj" fmla="val 31372"/>
            </a:avLst>
          </a:prstGeom>
          <a:solidFill>
            <a:srgbClr val="F7F7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128378" y="3266703"/>
            <a:ext cx="475841" cy="121444"/>
          </a:xfrm>
          <a:prstGeom prst="roundRect">
            <a:avLst>
              <a:gd name="adj" fmla="val 31372"/>
            </a:avLst>
          </a:prstGeom>
          <a:solidFill>
            <a:srgbClr val="F7F7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00050" y="2886075"/>
            <a:ext cx="3043238" cy="5587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1"/>
              </a:lnSpc>
              <a:buNone/>
            </a:pPr>
            <a:r>
              <a:rPr lang="en-US" sz="872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Продвинутая альтернатива классическому </a:t>
            </a:r>
            <a:r>
              <a:rPr lang="en-US" sz="800" dirty="0">
                <a:solidFill>
                  <a:srgbClr val="0A0A0A"/>
                </a:solidFill>
                <a:highlight>
                  <a:srgbClr val="F7F7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traceroute</a:t>
            </a:r>
            <a:r>
              <a:rPr lang="en-US" sz="872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работает не только на сетевом (</a:t>
            </a:r>
            <a:r>
              <a:rPr lang="en-US" sz="800" dirty="0">
                <a:solidFill>
                  <a:srgbClr val="0A0A0A"/>
                </a:solidFill>
                <a:highlight>
                  <a:srgbClr val="F7F7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</a:t>
            </a:r>
            <a:r>
              <a:rPr lang="en-US" sz="872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уровне, но и на транспортном (</a:t>
            </a:r>
            <a:r>
              <a:rPr lang="en-US" sz="800" dirty="0">
                <a:solidFill>
                  <a:srgbClr val="0A0A0A"/>
                </a:solidFill>
                <a:highlight>
                  <a:srgbClr val="F7F7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TCP/UDP</a:t>
            </a:r>
            <a:r>
              <a:rPr lang="en-US" sz="872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872" dirty="0"/>
          </a:p>
        </p:txBody>
      </p:sp>
      <p:sp>
        <p:nvSpPr>
          <p:cNvPr id="12" name="Text 10"/>
          <p:cNvSpPr/>
          <p:nvPr/>
        </p:nvSpPr>
        <p:spPr>
          <a:xfrm>
            <a:off x="400050" y="4254996"/>
            <a:ext cx="57150" cy="57150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21494" y="4227314"/>
            <a:ext cx="292179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118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ПРИМЕР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00050" y="4411266"/>
            <a:ext cx="3043238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8"/>
              </a:lnSpc>
              <a:buNone/>
            </a:pPr>
            <a:r>
              <a:rPr lang="en-US" sz="844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запустили наш сервер и хотим узнать, какие порты он прослушивает</a:t>
            </a:r>
            <a:endParaRPr lang="en-US" sz="844" dirty="0"/>
          </a:p>
        </p:txBody>
      </p:sp>
      <p:sp>
        <p:nvSpPr>
          <p:cNvPr id="15" name="Text 13"/>
          <p:cNvSpPr/>
          <p:nvPr/>
        </p:nvSpPr>
        <p:spPr>
          <a:xfrm>
            <a:off x="3771900" y="400050"/>
            <a:ext cx="4972050" cy="4343400"/>
          </a:xfrm>
          <a:prstGeom prst="roundRect">
            <a:avLst>
              <a:gd name="adj" fmla="val 2193"/>
            </a:avLst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3771900" y="660797"/>
            <a:ext cx="4972050" cy="0"/>
          </a:xfrm>
          <a:prstGeom prst="line">
            <a:avLst/>
          </a:prstGeom>
          <a:noFill/>
          <a:ln w="7144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00488" y="496491"/>
            <a:ext cx="64294" cy="64294"/>
          </a:xfrm>
          <a:prstGeom prst="roundRect">
            <a:avLst>
              <a:gd name="adj" fmla="val 148132757"/>
            </a:avLst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007644" y="496491"/>
            <a:ext cx="64294" cy="64294"/>
          </a:xfrm>
          <a:prstGeom prst="roundRect">
            <a:avLst>
              <a:gd name="adj" fmla="val 148132757"/>
            </a:avLst>
          </a:prstGeom>
          <a:solidFill>
            <a:srgbClr val="9CA3A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114800" y="496491"/>
            <a:ext cx="64294" cy="64294"/>
          </a:xfrm>
          <a:prstGeom prst="roundRect">
            <a:avLst>
              <a:gd name="adj" fmla="val 148132757"/>
            </a:avLst>
          </a:prstGeom>
          <a:solidFill>
            <a:srgbClr val="6B728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135695" y="464344"/>
            <a:ext cx="49633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675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server.py</a:t>
            </a:r>
            <a:endParaRPr lang="en-US" sz="675" dirty="0"/>
          </a:p>
        </p:txBody>
      </p:sp>
      <p:sp>
        <p:nvSpPr>
          <p:cNvPr id="21" name="Text 19"/>
          <p:cNvSpPr/>
          <p:nvPr/>
        </p:nvSpPr>
        <p:spPr>
          <a:xfrm>
            <a:off x="3929063" y="1509452"/>
            <a:ext cx="111509" cy="2487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185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800" dirty="0"/>
          </a:p>
          <a:p>
            <a:pPr marL="0" indent="0" algn="r">
              <a:lnSpc>
                <a:spcPts val="1185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00" dirty="0"/>
          </a:p>
          <a:p>
            <a:pPr marL="0" indent="0" algn="r">
              <a:lnSpc>
                <a:spcPts val="1185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00" dirty="0"/>
          </a:p>
          <a:p>
            <a:pPr marL="0" indent="0" algn="r">
              <a:lnSpc>
                <a:spcPts val="1185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00" dirty="0"/>
          </a:p>
          <a:p>
            <a:pPr marL="0" indent="0" algn="r">
              <a:lnSpc>
                <a:spcPts val="1185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00" dirty="0"/>
          </a:p>
          <a:p>
            <a:pPr marL="0" indent="0" algn="r">
              <a:lnSpc>
                <a:spcPts val="1185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00" dirty="0"/>
          </a:p>
          <a:p>
            <a:pPr marL="0" indent="0" algn="r">
              <a:lnSpc>
                <a:spcPts val="1185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800" dirty="0"/>
          </a:p>
          <a:p>
            <a:pPr marL="0" indent="0" algn="r">
              <a:lnSpc>
                <a:spcPts val="1185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800" dirty="0"/>
          </a:p>
          <a:p>
            <a:pPr marL="0" indent="0" algn="r">
              <a:lnSpc>
                <a:spcPts val="1185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800" dirty="0"/>
          </a:p>
          <a:p>
            <a:pPr marL="0" indent="0" algn="r">
              <a:lnSpc>
                <a:spcPts val="1185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  <a:p>
            <a:pPr marL="0" indent="0" algn="r">
              <a:lnSpc>
                <a:spcPts val="1185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  <a:p>
            <a:pPr marL="0" indent="0" algn="r">
              <a:lnSpc>
                <a:spcPts val="1185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  <a:p>
            <a:pPr marL="0" indent="0" algn="r">
              <a:lnSpc>
                <a:spcPts val="1185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  <a:p>
            <a:pPr marL="0" indent="0" algn="r">
              <a:lnSpc>
                <a:spcPts val="1185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169159" y="1509452"/>
            <a:ext cx="3622886" cy="2487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socket, threading</a:t>
            </a:r>
            <a:endParaRPr lang="en-US" sz="800" dirty="0"/>
          </a:p>
          <a:p>
            <a:pPr marL="0" indent="0" algn="l">
              <a:lnSpc>
                <a:spcPts val="1185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serve(port):</a:t>
            </a:r>
            <a:endParaRPr lang="en-US" sz="800" dirty="0"/>
          </a:p>
          <a:p>
            <a:pPr marL="0" indent="0" algn="l">
              <a:lnSpc>
                <a:spcPts val="1185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s = socket.socket()</a:t>
            </a:r>
            <a:endParaRPr lang="en-US" sz="800" dirty="0"/>
          </a:p>
          <a:p>
            <a:pPr marL="0" indent="0" algn="l">
              <a:lnSpc>
                <a:spcPts val="1185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s.setsockopt(socket.SOL_SOCKET, socket.SO_REUSEADDR, 1)</a:t>
            </a:r>
            <a:endParaRPr lang="en-US" sz="800" dirty="0"/>
          </a:p>
          <a:p>
            <a:pPr marL="0" indent="0" algn="l">
              <a:lnSpc>
                <a:spcPts val="1185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s.bind((</a:t>
            </a:r>
            <a:r>
              <a:rPr lang="en-US" sz="800" dirty="0">
                <a:solidFill>
                  <a:srgbClr val="9CA3A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'127.0.0.1'</a:t>
            </a: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port))</a:t>
            </a:r>
            <a:endParaRPr lang="en-US" sz="800" dirty="0"/>
          </a:p>
          <a:p>
            <a:pPr marL="0" indent="0" algn="l">
              <a:lnSpc>
                <a:spcPts val="1185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s.listen()</a:t>
            </a:r>
            <a:endParaRPr lang="en-US" sz="800" dirty="0"/>
          </a:p>
          <a:p>
            <a:pPr marL="0" indent="0" algn="l">
              <a:lnSpc>
                <a:spcPts val="1185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</a:t>
            </a: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00" dirty="0"/>
          </a:p>
          <a:p>
            <a:pPr marL="0" indent="0" algn="l">
              <a:lnSpc>
                <a:spcPts val="1185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c, _ = s.accept()</a:t>
            </a:r>
            <a:endParaRPr lang="en-US" sz="800" dirty="0"/>
          </a:p>
          <a:p>
            <a:pPr marL="0" indent="0" algn="l">
              <a:lnSpc>
                <a:spcPts val="1185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c.send(</a:t>
            </a:r>
            <a:r>
              <a:rPr lang="en-US" sz="800" dirty="0">
                <a:solidFill>
                  <a:srgbClr val="9CA3A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b'HTTP/1.1 200 OK\r\n\r\n'</a:t>
            </a: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  <a:p>
            <a:pPr marL="0" indent="0" algn="l">
              <a:lnSpc>
                <a:spcPts val="1185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c.close()</a:t>
            </a:r>
            <a:endParaRPr lang="en-US" sz="800" dirty="0"/>
          </a:p>
          <a:p>
            <a:pPr marL="0" indent="0" algn="l">
              <a:lnSpc>
                <a:spcPts val="1185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threading.Thread(target=serve, args=(</a:t>
            </a:r>
            <a:r>
              <a:rPr lang="en-US" sz="800" dirty="0">
                <a:solidFill>
                  <a:srgbClr val="9CA3A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8080</a:t>
            </a: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,), daemon=</a:t>
            </a: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).start()</a:t>
            </a:r>
            <a:endParaRPr lang="en-US" sz="800" dirty="0"/>
          </a:p>
          <a:p>
            <a:pPr marL="0" indent="0" algn="l">
              <a:lnSpc>
                <a:spcPts val="1185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serve(</a:t>
            </a:r>
            <a:r>
              <a:rPr lang="en-US" sz="800" dirty="0">
                <a:solidFill>
                  <a:srgbClr val="9CA3A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9090</a:t>
            </a: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771900" y="4463058"/>
            <a:ext cx="4972050" cy="0"/>
          </a:xfrm>
          <a:prstGeom prst="line">
            <a:avLst/>
          </a:prstGeom>
          <a:noFill/>
          <a:ln w="7144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00488" y="4576465"/>
            <a:ext cx="57150" cy="57150"/>
          </a:xfrm>
          <a:prstGeom prst="rect">
            <a:avLst/>
          </a:prstGeom>
          <a:solidFill>
            <a:srgbClr val="F5F5F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029075" y="4538067"/>
            <a:ext cx="4586288" cy="1339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0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Сервер слушает порты 8080 и 9090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3622" y="403622"/>
            <a:ext cx="2168128" cy="176808"/>
          </a:xfrm>
          <a:prstGeom prst="roundRect">
            <a:avLst>
              <a:gd name="adj" fmla="val 5381812"/>
            </a:avLst>
          </a:prstGeom>
          <a:noFill/>
          <a:ln w="7144">
            <a:solidFill>
              <a:srgbClr val="0A0A0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8631" y="463451"/>
            <a:ext cx="57150" cy="57150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0075" y="435769"/>
            <a:ext cx="1521396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106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РАЗДЕЛ 04 · LFT — ПРАКТИКА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96100" y="433090"/>
            <a:ext cx="19622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 · транспортный уровень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00050" y="669727"/>
            <a:ext cx="8343900" cy="7144"/>
          </a:xfrm>
          <a:prstGeom prst="rect">
            <a:avLst/>
          </a:prstGeom>
          <a:solidFill>
            <a:srgbClr val="D1D5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00050" y="776883"/>
            <a:ext cx="8636000" cy="239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55000" lnSpcReduction="20000"/>
          </a:bodyPr>
          <a:lstStyle/>
          <a:p>
            <a:pPr marL="0" indent="0" algn="l">
              <a:lnSpc>
                <a:spcPts val="2104"/>
              </a:lnSpc>
              <a:buNone/>
            </a:pPr>
            <a:r>
              <a:rPr lang="en-US" sz="1913" b="1" kern="0" spc="-19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трассировки: 8080, 9090, 80</a:t>
            </a:r>
            <a:endParaRPr lang="en-US" sz="1913" dirty="0"/>
          </a:p>
        </p:txBody>
      </p:sp>
      <p:sp>
        <p:nvSpPr>
          <p:cNvPr id="8" name="Text 6"/>
          <p:cNvSpPr/>
          <p:nvPr/>
        </p:nvSpPr>
        <p:spPr>
          <a:xfrm>
            <a:off x="350320" y="1331107"/>
            <a:ext cx="1510457" cy="175022"/>
          </a:xfrm>
          <a:prstGeom prst="roundRect">
            <a:avLst>
              <a:gd name="adj" fmla="val 5436731"/>
            </a:avLst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50320" y="1331107"/>
            <a:ext cx="2813410" cy="244394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sudo lft -T -d 8080 127.0.0.1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50320" y="1577567"/>
            <a:ext cx="2813410" cy="2327582"/>
          </a:xfrm>
          <a:prstGeom prst="roundRect">
            <a:avLst>
              <a:gd name="adj" fmla="val 6173"/>
            </a:avLst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50320" y="1788307"/>
            <a:ext cx="2813410" cy="0"/>
          </a:xfrm>
          <a:prstGeom prst="line">
            <a:avLst/>
          </a:prstGeom>
          <a:noFill/>
          <a:ln w="7144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1758" y="1652576"/>
            <a:ext cx="57150" cy="57150"/>
          </a:xfrm>
          <a:prstGeom prst="roundRect">
            <a:avLst>
              <a:gd name="adj" fmla="val 166650000"/>
            </a:avLst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14626" y="1652576"/>
            <a:ext cx="57150" cy="57150"/>
          </a:xfrm>
          <a:prstGeom prst="roundRect">
            <a:avLst>
              <a:gd name="adj" fmla="val 166650000"/>
            </a:avLst>
          </a:prstGeom>
          <a:solidFill>
            <a:srgbClr val="9CA3A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07495" y="1652576"/>
            <a:ext cx="57150" cy="57150"/>
          </a:xfrm>
          <a:prstGeom prst="roundRect">
            <a:avLst>
              <a:gd name="adj" fmla="val 166650000"/>
            </a:avLst>
          </a:prstGeom>
          <a:solidFill>
            <a:srgbClr val="6B728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681012" y="1627573"/>
            <a:ext cx="43668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порт 8080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407470" y="1856173"/>
            <a:ext cx="2699110" cy="1264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9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LFT trace started at 19-Oct-26 21:32:43 MSK</a:t>
            </a:r>
            <a:endParaRPr lang="en-US" sz="800" dirty="0"/>
          </a:p>
          <a:p>
            <a:pPr marL="0" indent="0" algn="l">
              <a:lnSpc>
                <a:spcPts val="909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Tracing *......*.....T</a:t>
            </a:r>
            <a:endParaRPr lang="en-US" sz="800" dirty="0"/>
          </a:p>
          <a:p>
            <a:pPr marL="0" indent="0" algn="l">
              <a:lnSpc>
                <a:spcPts val="909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TTL LFT trace to localhost.localdomain (127.0.0.1):8080/tcp</a:t>
            </a:r>
            <a:endParaRPr lang="en-US" sz="800" dirty="0"/>
          </a:p>
          <a:p>
            <a:pPr marL="0" indent="0" algn="l">
              <a:lnSpc>
                <a:spcPts val="909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 1  </a:t>
            </a: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[target open]</a:t>
            </a: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 err="1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localhost.localdomain</a:t>
            </a: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ru-RU" sz="800" dirty="0">
              <a:solidFill>
                <a:srgbClr val="F5F5F5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ts val="909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(127.0.0.1):8080 0.5/0.1ms</a:t>
            </a:r>
            <a:endParaRPr lang="en-US" sz="800" dirty="0"/>
          </a:p>
          <a:p>
            <a:pPr marL="0" indent="0" algn="l">
              <a:lnSpc>
                <a:spcPts val="909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 2  </a:t>
            </a: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[target open]</a:t>
            </a: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 err="1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localhost.localdomain</a:t>
            </a: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ru-RU" sz="800" dirty="0">
              <a:solidFill>
                <a:srgbClr val="F5F5F5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ts val="909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(127.0.0.1):8080 0.1ms</a:t>
            </a:r>
            <a:endParaRPr lang="en-US" sz="800" dirty="0"/>
          </a:p>
          <a:p>
            <a:pPr marL="0" indent="0" algn="l">
              <a:lnSpc>
                <a:spcPts val="909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 3  </a:t>
            </a: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[target open]</a:t>
            </a: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 err="1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localhost.localdomain</a:t>
            </a: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ru-RU" sz="800" dirty="0">
              <a:solidFill>
                <a:srgbClr val="F5F5F5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ts val="909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(127.0.0.1):8080 0.0ms</a:t>
            </a:r>
            <a:endParaRPr lang="en-US" sz="800" dirty="0"/>
          </a:p>
          <a:p>
            <a:pPr marL="0" indent="0" algn="l">
              <a:lnSpc>
                <a:spcPts val="909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 4  </a:t>
            </a: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[target open]</a:t>
            </a: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 err="1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localhost.localdomain</a:t>
            </a: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ru-RU" sz="800" dirty="0">
              <a:solidFill>
                <a:srgbClr val="F5F5F5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ts val="909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(127.0.0.1):8080 0.1ms</a:t>
            </a:r>
            <a:endParaRPr lang="en-US" sz="800" dirty="0"/>
          </a:p>
          <a:p>
            <a:pPr marL="0" indent="0" algn="l">
              <a:lnSpc>
                <a:spcPts val="909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 5  </a:t>
            </a: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[target open]</a:t>
            </a: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 err="1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localhost.localdomain</a:t>
            </a: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ru-RU" sz="800" dirty="0">
              <a:solidFill>
                <a:srgbClr val="F5F5F5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ts val="909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(127.0.0.1):8080 0.0ms</a:t>
            </a:r>
            <a:endParaRPr lang="en-US" sz="800" dirty="0"/>
          </a:p>
          <a:p>
            <a:pPr marL="0" indent="0" algn="l">
              <a:lnSpc>
                <a:spcPts val="909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 6  </a:t>
            </a: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[target open]</a:t>
            </a: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 err="1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localhost.localdomain</a:t>
            </a: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ru-RU" sz="800" dirty="0">
              <a:solidFill>
                <a:srgbClr val="F5F5F5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ts val="909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(127.0.0.1):8080 0.0ms</a:t>
            </a:r>
            <a:endParaRPr lang="en-US" sz="800" dirty="0"/>
          </a:p>
          <a:p>
            <a:pPr marL="0" indent="0" algn="l">
              <a:lnSpc>
                <a:spcPts val="909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LFT trace finished at 19-Oct-26 21:32:44 </a:t>
            </a:r>
            <a:endParaRPr lang="ru-RU" sz="800" dirty="0">
              <a:solidFill>
                <a:srgbClr val="9CA3AF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ts val="909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MSK (0.51s elapsed)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99185" y="1313859"/>
            <a:ext cx="1510457" cy="175022"/>
          </a:xfrm>
          <a:prstGeom prst="roundRect">
            <a:avLst>
              <a:gd name="adj" fmla="val 5436731"/>
            </a:avLst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299185" y="1313859"/>
            <a:ext cx="2679464" cy="244394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sudo lft -T -d 9090 127.0.0.1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299185" y="1575501"/>
            <a:ext cx="2679464" cy="2325604"/>
          </a:xfrm>
          <a:prstGeom prst="roundRect">
            <a:avLst>
              <a:gd name="adj" fmla="val 6173"/>
            </a:avLst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299185" y="1786241"/>
            <a:ext cx="2679464" cy="0"/>
          </a:xfrm>
          <a:prstGeom prst="line">
            <a:avLst/>
          </a:prstGeom>
          <a:noFill/>
          <a:ln w="7144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70622" y="1650510"/>
            <a:ext cx="57150" cy="57150"/>
          </a:xfrm>
          <a:prstGeom prst="roundRect">
            <a:avLst>
              <a:gd name="adj" fmla="val 166650000"/>
            </a:avLst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463491" y="1650510"/>
            <a:ext cx="57150" cy="57150"/>
          </a:xfrm>
          <a:prstGeom prst="roundRect">
            <a:avLst>
              <a:gd name="adj" fmla="val 166650000"/>
            </a:avLst>
          </a:prstGeom>
          <a:solidFill>
            <a:srgbClr val="9CA3A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556360" y="1650510"/>
            <a:ext cx="57150" cy="57150"/>
          </a:xfrm>
          <a:prstGeom prst="roundRect">
            <a:avLst>
              <a:gd name="adj" fmla="val 166650000"/>
            </a:avLst>
          </a:prstGeom>
          <a:solidFill>
            <a:srgbClr val="6B728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495931" y="1625507"/>
            <a:ext cx="436687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порт 9090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3356335" y="1854107"/>
            <a:ext cx="2565164" cy="1132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9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LFT trace started at 19-Oct-26 21:32:51 MSK</a:t>
            </a:r>
            <a:endParaRPr lang="en-US" sz="800" dirty="0"/>
          </a:p>
          <a:p>
            <a:pPr marL="0" indent="0" algn="l">
              <a:lnSpc>
                <a:spcPts val="909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Tracing *.....T</a:t>
            </a:r>
            <a:endParaRPr lang="en-US" sz="800" dirty="0"/>
          </a:p>
          <a:p>
            <a:pPr marL="0" indent="0" algn="l">
              <a:lnSpc>
                <a:spcPts val="909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TTL LFT trace to </a:t>
            </a:r>
            <a:r>
              <a:rPr lang="en-US" sz="800" dirty="0" err="1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localhost.localdomain</a:t>
            </a: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ru-RU" sz="800" dirty="0">
              <a:solidFill>
                <a:srgbClr val="F5F5F5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ts val="909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(127.0.0.1):9090/tcp</a:t>
            </a:r>
            <a:endParaRPr lang="en-US" sz="800" dirty="0"/>
          </a:p>
          <a:p>
            <a:pPr marL="0" indent="0" algn="l">
              <a:lnSpc>
                <a:spcPts val="909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 1  </a:t>
            </a: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[target open]</a:t>
            </a: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 err="1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localhost.localdomain</a:t>
            </a: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ru-RU" sz="800" dirty="0">
              <a:solidFill>
                <a:srgbClr val="F5F5F5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ts val="909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(127.0.0.1):9090 0.1ms</a:t>
            </a:r>
            <a:endParaRPr lang="en-US" sz="800" dirty="0"/>
          </a:p>
          <a:p>
            <a:pPr marL="0" indent="0" algn="l">
              <a:lnSpc>
                <a:spcPts val="909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 2  </a:t>
            </a: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[target open]</a:t>
            </a: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 err="1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localhost.localdomain</a:t>
            </a:r>
            <a:endParaRPr lang="ru-RU" sz="800" dirty="0">
              <a:solidFill>
                <a:srgbClr val="F5F5F5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ts val="909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(127.0.0.1):9090 0.1ms</a:t>
            </a:r>
            <a:endParaRPr lang="en-US" sz="800" dirty="0"/>
          </a:p>
          <a:p>
            <a:pPr marL="0" indent="0" algn="l">
              <a:lnSpc>
                <a:spcPts val="909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LFT trace finished at 19-Oct-26 </a:t>
            </a:r>
            <a:endParaRPr lang="ru-RU" sz="800" dirty="0">
              <a:solidFill>
                <a:srgbClr val="9CA3AF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ts val="909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21:32:51 MSK (0.26s elapsed)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077269" y="1331107"/>
            <a:ext cx="1416137" cy="175022"/>
          </a:xfrm>
          <a:prstGeom prst="roundRect">
            <a:avLst>
              <a:gd name="adj" fmla="val 5436731"/>
            </a:avLst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077269" y="1331107"/>
            <a:ext cx="2223715" cy="244394"/>
          </a:xfrm>
          <a:prstGeom prst="rect">
            <a:avLst/>
          </a:prstGeom>
          <a:noFill/>
          <a:ln/>
        </p:spPr>
        <p:txBody>
          <a:bodyPr wrap="none" lIns="71438" tIns="28575" rIns="71438" bIns="28575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sudo lft -T -d 80 127.0.0.1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077269" y="1577566"/>
            <a:ext cx="2679576" cy="2306287"/>
          </a:xfrm>
          <a:prstGeom prst="roundRect">
            <a:avLst>
              <a:gd name="adj" fmla="val 6173"/>
            </a:avLst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6077269" y="1788307"/>
            <a:ext cx="2679576" cy="0"/>
          </a:xfrm>
          <a:prstGeom prst="line">
            <a:avLst/>
          </a:prstGeom>
          <a:noFill/>
          <a:ln w="7144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48707" y="1652576"/>
            <a:ext cx="57150" cy="57150"/>
          </a:xfrm>
          <a:prstGeom prst="roundRect">
            <a:avLst>
              <a:gd name="adj" fmla="val 166650000"/>
            </a:avLst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241575" y="1652576"/>
            <a:ext cx="57150" cy="57150"/>
          </a:xfrm>
          <a:prstGeom prst="roundRect">
            <a:avLst>
              <a:gd name="adj" fmla="val 166650000"/>
            </a:avLst>
          </a:prstGeom>
          <a:solidFill>
            <a:srgbClr val="9CA3A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334444" y="1652576"/>
            <a:ext cx="57150" cy="57150"/>
          </a:xfrm>
          <a:prstGeom prst="roundRect">
            <a:avLst>
              <a:gd name="adj" fmla="val 166650000"/>
            </a:avLst>
          </a:prstGeom>
          <a:solidFill>
            <a:srgbClr val="6B728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8372737" y="1627573"/>
            <a:ext cx="325191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44"/>
              </a:lnSpc>
              <a:buNone/>
            </a:pPr>
            <a:r>
              <a:rPr lang="en-US" sz="6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порт 80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6134419" y="1856173"/>
            <a:ext cx="2565276" cy="11326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9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LFT trace started at 19-Oct-26 21:33:05 MSK</a:t>
            </a:r>
            <a:endParaRPr lang="en-US" sz="800" dirty="0"/>
          </a:p>
          <a:p>
            <a:pPr marL="0" indent="0" algn="l">
              <a:lnSpc>
                <a:spcPts val="909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Tracing ......T</a:t>
            </a:r>
            <a:endParaRPr lang="en-US" sz="800" dirty="0"/>
          </a:p>
          <a:p>
            <a:pPr marL="0" indent="0" algn="l">
              <a:lnSpc>
                <a:spcPts val="909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TTL LFT trace to </a:t>
            </a:r>
            <a:r>
              <a:rPr lang="en-US" sz="800" dirty="0" err="1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localhost.localdomain</a:t>
            </a: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ru-RU" sz="800" dirty="0">
              <a:solidFill>
                <a:srgbClr val="F5F5F5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ts val="909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(127.0.0.1):80/tcp</a:t>
            </a:r>
            <a:endParaRPr lang="en-US" sz="800" dirty="0"/>
          </a:p>
          <a:p>
            <a:pPr marL="0" indent="0" algn="l">
              <a:lnSpc>
                <a:spcPts val="909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 1  </a:t>
            </a: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[target closed]</a:t>
            </a: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 err="1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localhost.localdomain</a:t>
            </a:r>
            <a:endParaRPr lang="ru-RU" sz="800" dirty="0">
              <a:solidFill>
                <a:srgbClr val="F5F5F5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ts val="909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(127.0.0.1):80 0.0ms</a:t>
            </a:r>
            <a:endParaRPr lang="en-US" sz="800" dirty="0"/>
          </a:p>
          <a:p>
            <a:pPr marL="0" indent="0" algn="l">
              <a:lnSpc>
                <a:spcPts val="909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 2  </a:t>
            </a:r>
            <a:r>
              <a:rPr lang="en-US" sz="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[target closed]</a:t>
            </a: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800" dirty="0" err="1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localhost.localdomain</a:t>
            </a: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ru-RU" sz="800" dirty="0">
              <a:solidFill>
                <a:srgbClr val="F5F5F5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ts val="909"/>
              </a:lnSpc>
              <a:buNone/>
            </a:pPr>
            <a:r>
              <a:rPr lang="en-US" sz="800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(127.0.0.1):80 0.1ms</a:t>
            </a:r>
            <a:endParaRPr lang="en-US" sz="800" dirty="0"/>
          </a:p>
          <a:p>
            <a:pPr marL="0" indent="0" algn="l">
              <a:lnSpc>
                <a:spcPts val="909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LFT trace finished at 19-Oct-26 </a:t>
            </a:r>
            <a:endParaRPr lang="ru-RU" sz="800" dirty="0">
              <a:solidFill>
                <a:srgbClr val="9CA3AF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 algn="l">
              <a:lnSpc>
                <a:spcPts val="909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21:33:05 MSK (0.27s elapsed)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03622" y="4373426"/>
            <a:ext cx="8336756" cy="366452"/>
          </a:xfrm>
          <a:prstGeom prst="rect">
            <a:avLst/>
          </a:prstGeom>
          <a:solidFill>
            <a:srgbClr val="F7F7F8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35781" y="4528021"/>
            <a:ext cx="57150" cy="57150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785295" y="4505585"/>
            <a:ext cx="782464" cy="114300"/>
          </a:xfrm>
          <a:prstGeom prst="roundRect">
            <a:avLst>
              <a:gd name="adj" fmla="val 33333"/>
            </a:avLst>
          </a:prstGeom>
          <a:solidFill>
            <a:srgbClr val="F7F7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090033" y="4505585"/>
            <a:ext cx="889620" cy="114300"/>
          </a:xfrm>
          <a:prstGeom prst="roundRect">
            <a:avLst>
              <a:gd name="adj" fmla="val 33333"/>
            </a:avLst>
          </a:prstGeom>
          <a:solidFill>
            <a:srgbClr val="F7F7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85800" y="4484154"/>
            <a:ext cx="7922419" cy="1449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42"/>
              </a:lnSpc>
              <a:buNone/>
            </a:pPr>
            <a:r>
              <a:rPr lang="en-US" sz="8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lft получил ответ не просто от хоста, а именно от порта: </a:t>
            </a:r>
            <a:r>
              <a:rPr lang="en-US" sz="800" b="1" dirty="0">
                <a:solidFill>
                  <a:srgbClr val="0A0A0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8080</a:t>
            </a:r>
            <a:r>
              <a:rPr lang="en-US" sz="8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800" b="1" dirty="0">
                <a:solidFill>
                  <a:srgbClr val="0A0A0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9090</a:t>
            </a:r>
            <a:r>
              <a:rPr lang="en-US" sz="8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800" dirty="0">
                <a:solidFill>
                  <a:srgbClr val="0A0A0A"/>
                </a:solidFill>
                <a:highlight>
                  <a:srgbClr val="F7F7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[target open]</a:t>
            </a:r>
            <a:r>
              <a:rPr lang="en-US" sz="8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порт </a:t>
            </a:r>
            <a:r>
              <a:rPr lang="en-US" sz="800" b="1" dirty="0">
                <a:solidFill>
                  <a:srgbClr val="0A0A0A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80</a:t>
            </a:r>
            <a:r>
              <a:rPr lang="en-US" sz="8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800" dirty="0">
                <a:solidFill>
                  <a:srgbClr val="0A0A0A"/>
                </a:solidFill>
                <a:highlight>
                  <a:srgbClr val="F7F7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[target closed]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3622" y="403622"/>
            <a:ext cx="3025378" cy="176808"/>
          </a:xfrm>
          <a:prstGeom prst="roundRect">
            <a:avLst>
              <a:gd name="adj" fmla="val 5381812"/>
            </a:avLst>
          </a:prstGeom>
          <a:noFill/>
          <a:ln w="7144">
            <a:solidFill>
              <a:srgbClr val="0A0A0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8631" y="463451"/>
            <a:ext cx="57150" cy="57150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0074" y="435769"/>
            <a:ext cx="2784475" cy="93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106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КОГДА ЭТО АКТУАЛЬНО · STRACE / LTRACE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700837" y="425222"/>
            <a:ext cx="2185633" cy="87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syscalls · библиотечные вызовы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00050" y="669727"/>
            <a:ext cx="8343900" cy="7144"/>
          </a:xfrm>
          <a:prstGeom prst="rect">
            <a:avLst/>
          </a:prstGeom>
          <a:solidFill>
            <a:srgbClr val="D1D5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00050" y="776883"/>
            <a:ext cx="8636000" cy="27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800" b="1" kern="0" spc="-18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это актуально: strace и ltrace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03622" y="1188988"/>
            <a:ext cx="4079081" cy="3550890"/>
          </a:xfrm>
          <a:prstGeom prst="rect">
            <a:avLst/>
          </a:prstGeom>
          <a:solidFill>
            <a:srgbClr val="FFFFFF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64356" y="1617613"/>
            <a:ext cx="3757613" cy="0"/>
          </a:xfrm>
          <a:prstGeom prst="line">
            <a:avLst/>
          </a:prstGeom>
          <a:noFill/>
          <a:ln w="7144">
            <a:solidFill>
              <a:srgbClr val="D1D5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4233" y="1308717"/>
            <a:ext cx="543322" cy="232029"/>
          </a:xfrm>
          <a:prstGeom prst="roundRect">
            <a:avLst>
              <a:gd name="adj" fmla="val 4100985"/>
            </a:avLst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64356" y="1321147"/>
            <a:ext cx="50307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strace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4356" y="1889968"/>
            <a:ext cx="411480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9CA3A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01</a:t>
            </a:r>
            <a:endParaRPr lang="en-US" sz="1069" dirty="0"/>
          </a:p>
        </p:txBody>
      </p:sp>
      <p:sp>
        <p:nvSpPr>
          <p:cNvPr id="13" name="Text 11"/>
          <p:cNvSpPr/>
          <p:nvPr/>
        </p:nvSpPr>
        <p:spPr>
          <a:xfrm>
            <a:off x="921544" y="1774441"/>
            <a:ext cx="3510153" cy="128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16" b="1" dirty="0" err="1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</a:t>
            </a:r>
            <a:r>
              <a:rPr lang="en-US" sz="816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16" b="1" dirty="0" err="1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зависла</a:t>
            </a:r>
            <a:endParaRPr lang="en-US" sz="816" dirty="0"/>
          </a:p>
        </p:txBody>
      </p:sp>
      <p:sp>
        <p:nvSpPr>
          <p:cNvPr id="14" name="Text 12"/>
          <p:cNvSpPr/>
          <p:nvPr/>
        </p:nvSpPr>
        <p:spPr>
          <a:xfrm>
            <a:off x="1526418" y="1951918"/>
            <a:ext cx="529530" cy="107156"/>
          </a:xfrm>
          <a:prstGeom prst="roundRect">
            <a:avLst>
              <a:gd name="adj" fmla="val 35556"/>
            </a:avLst>
          </a:prstGeom>
          <a:solidFill>
            <a:srgbClr val="F7F7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921544" y="1930487"/>
            <a:ext cx="34004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подключаемся </a:t>
            </a:r>
            <a:r>
              <a:rPr lang="en-US" sz="800" dirty="0">
                <a:solidFill>
                  <a:srgbClr val="6B7280"/>
                </a:solidFill>
                <a:highlight>
                  <a:srgbClr val="F7F7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strace -p</a:t>
            </a: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видим, на каком вызове блокируется: ожидание ввода, сокета, файла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564356" y="2366032"/>
            <a:ext cx="3757613" cy="0"/>
          </a:xfrm>
          <a:prstGeom prst="line">
            <a:avLst/>
          </a:prstGeom>
          <a:noFill/>
          <a:ln w="7144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4356" y="2638388"/>
            <a:ext cx="411480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9CA3A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02</a:t>
            </a:r>
            <a:endParaRPr lang="en-US" sz="1069" dirty="0"/>
          </a:p>
        </p:txBody>
      </p:sp>
      <p:sp>
        <p:nvSpPr>
          <p:cNvPr id="18" name="Text 16"/>
          <p:cNvSpPr/>
          <p:nvPr/>
        </p:nvSpPr>
        <p:spPr>
          <a:xfrm>
            <a:off x="921544" y="2592512"/>
            <a:ext cx="3261742" cy="128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16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не открывает файл или конфиг</a:t>
            </a:r>
            <a:endParaRPr lang="en-US" sz="816" dirty="0"/>
          </a:p>
        </p:txBody>
      </p:sp>
      <p:sp>
        <p:nvSpPr>
          <p:cNvPr id="19" name="Text 17"/>
          <p:cNvSpPr/>
          <p:nvPr/>
        </p:nvSpPr>
        <p:spPr>
          <a:xfrm>
            <a:off x="921544" y="2769989"/>
            <a:ext cx="1170347" cy="107156"/>
          </a:xfrm>
          <a:prstGeom prst="roundRect">
            <a:avLst>
              <a:gd name="adj" fmla="val 35556"/>
            </a:avLst>
          </a:prstGeom>
          <a:solidFill>
            <a:srgbClr val="F7F7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105969" y="2769989"/>
            <a:ext cx="381633" cy="107156"/>
          </a:xfrm>
          <a:prstGeom prst="roundRect">
            <a:avLst>
              <a:gd name="adj" fmla="val 35556"/>
            </a:avLst>
          </a:prstGeom>
          <a:solidFill>
            <a:srgbClr val="F7F7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531803" y="2769989"/>
            <a:ext cx="381633" cy="107156"/>
          </a:xfrm>
          <a:prstGeom prst="roundRect">
            <a:avLst>
              <a:gd name="adj" fmla="val 35556"/>
            </a:avLst>
          </a:prstGeom>
          <a:solidFill>
            <a:srgbClr val="F7F7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21544" y="2748558"/>
            <a:ext cx="30201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6B7280"/>
                </a:solidFill>
                <a:highlight>
                  <a:srgbClr val="F7F7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strace -e trace=openat</a:t>
            </a:r>
            <a:r>
              <a:rPr lang="en-US" sz="73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покажет путь и причину (</a:t>
            </a:r>
            <a:r>
              <a:rPr lang="en-US" sz="731" dirty="0">
                <a:solidFill>
                  <a:srgbClr val="6B7280"/>
                </a:solidFill>
                <a:highlight>
                  <a:srgbClr val="F7F7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ENOENT</a:t>
            </a:r>
            <a:r>
              <a:rPr lang="en-US" sz="73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731" dirty="0">
                <a:solidFill>
                  <a:srgbClr val="6B7280"/>
                </a:solidFill>
                <a:highlight>
                  <a:srgbClr val="F7F7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EACCES</a:t>
            </a:r>
            <a:r>
              <a:rPr lang="en-US" sz="73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731" dirty="0"/>
          </a:p>
        </p:txBody>
      </p:sp>
      <p:sp>
        <p:nvSpPr>
          <p:cNvPr id="23" name="Shape 21"/>
          <p:cNvSpPr/>
          <p:nvPr/>
        </p:nvSpPr>
        <p:spPr>
          <a:xfrm>
            <a:off x="564356" y="3114452"/>
            <a:ext cx="3757613" cy="0"/>
          </a:xfrm>
          <a:prstGeom prst="line">
            <a:avLst/>
          </a:prstGeom>
          <a:noFill/>
          <a:ln w="7144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4356" y="3386807"/>
            <a:ext cx="411480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9CA3A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03</a:t>
            </a:r>
            <a:endParaRPr lang="en-US" sz="1069" dirty="0"/>
          </a:p>
        </p:txBody>
      </p:sp>
      <p:sp>
        <p:nvSpPr>
          <p:cNvPr id="25" name="Text 23"/>
          <p:cNvSpPr/>
          <p:nvPr/>
        </p:nvSpPr>
        <p:spPr>
          <a:xfrm>
            <a:off x="921544" y="3340931"/>
            <a:ext cx="3510153" cy="128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16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Нужно понять, куда уходит время</a:t>
            </a:r>
            <a:endParaRPr lang="en-US" sz="816" dirty="0"/>
          </a:p>
        </p:txBody>
      </p:sp>
      <p:sp>
        <p:nvSpPr>
          <p:cNvPr id="26" name="Text 24"/>
          <p:cNvSpPr/>
          <p:nvPr/>
        </p:nvSpPr>
        <p:spPr>
          <a:xfrm>
            <a:off x="921544" y="3518408"/>
            <a:ext cx="529530" cy="107156"/>
          </a:xfrm>
          <a:prstGeom prst="roundRect">
            <a:avLst>
              <a:gd name="adj" fmla="val 35556"/>
            </a:avLst>
          </a:prstGeom>
          <a:solidFill>
            <a:srgbClr val="F7F7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697324" y="3518408"/>
            <a:ext cx="529530" cy="107156"/>
          </a:xfrm>
          <a:prstGeom prst="roundRect">
            <a:avLst>
              <a:gd name="adj" fmla="val 35556"/>
            </a:avLst>
          </a:prstGeom>
          <a:solidFill>
            <a:srgbClr val="F7F7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715755" y="3518408"/>
            <a:ext cx="529530" cy="107156"/>
          </a:xfrm>
          <a:prstGeom prst="roundRect">
            <a:avLst>
              <a:gd name="adj" fmla="val 35556"/>
            </a:avLst>
          </a:prstGeom>
          <a:solidFill>
            <a:srgbClr val="F7F7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921544" y="3496977"/>
            <a:ext cx="332374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6B7280"/>
                </a:solidFill>
                <a:highlight>
                  <a:srgbClr val="F7F7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strace -c</a:t>
            </a:r>
            <a:r>
              <a:rPr lang="en-US" sz="73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даст статистику: сотни лишних </a:t>
            </a:r>
            <a:r>
              <a:rPr lang="en-US" sz="731" dirty="0">
                <a:solidFill>
                  <a:srgbClr val="6B7280"/>
                </a:solidFill>
                <a:highlight>
                  <a:srgbClr val="F7F7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open/read</a:t>
            </a:r>
            <a:r>
              <a:rPr lang="en-US" sz="73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или долгий </a:t>
            </a:r>
            <a:r>
              <a:rPr lang="en-US" sz="731" dirty="0">
                <a:solidFill>
                  <a:srgbClr val="6B7280"/>
                </a:solidFill>
                <a:highlight>
                  <a:srgbClr val="F7F7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nanosleep</a:t>
            </a:r>
            <a:endParaRPr lang="en-US" sz="731" dirty="0"/>
          </a:p>
        </p:txBody>
      </p:sp>
      <p:sp>
        <p:nvSpPr>
          <p:cNvPr id="30" name="Shape 28"/>
          <p:cNvSpPr/>
          <p:nvPr/>
        </p:nvSpPr>
        <p:spPr>
          <a:xfrm>
            <a:off x="564356" y="3862871"/>
            <a:ext cx="3757613" cy="0"/>
          </a:xfrm>
          <a:prstGeom prst="line">
            <a:avLst/>
          </a:prstGeom>
          <a:noFill/>
          <a:ln w="7144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4356" y="4135227"/>
            <a:ext cx="411480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9CA3A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04</a:t>
            </a:r>
            <a:endParaRPr lang="en-US" sz="1069" dirty="0"/>
          </a:p>
        </p:txBody>
      </p:sp>
      <p:sp>
        <p:nvSpPr>
          <p:cNvPr id="32" name="Text 30"/>
          <p:cNvSpPr/>
          <p:nvPr/>
        </p:nvSpPr>
        <p:spPr>
          <a:xfrm>
            <a:off x="921544" y="4019699"/>
            <a:ext cx="3400425" cy="1286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16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Диагностика окружения</a:t>
            </a:r>
            <a:endParaRPr lang="en-US" sz="816" dirty="0"/>
          </a:p>
        </p:txBody>
      </p:sp>
      <p:sp>
        <p:nvSpPr>
          <p:cNvPr id="33" name="Text 31"/>
          <p:cNvSpPr/>
          <p:nvPr/>
        </p:nvSpPr>
        <p:spPr>
          <a:xfrm>
            <a:off x="2355986" y="4197176"/>
            <a:ext cx="628092" cy="107156"/>
          </a:xfrm>
          <a:prstGeom prst="roundRect">
            <a:avLst>
              <a:gd name="adj" fmla="val 35556"/>
            </a:avLst>
          </a:prstGeom>
          <a:solidFill>
            <a:srgbClr val="F7F7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028280" y="4197176"/>
            <a:ext cx="282959" cy="107156"/>
          </a:xfrm>
          <a:prstGeom prst="roundRect">
            <a:avLst>
              <a:gd name="adj" fmla="val 35556"/>
            </a:avLst>
          </a:prstGeom>
          <a:solidFill>
            <a:srgbClr val="F7F7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921544" y="4175745"/>
            <a:ext cx="34004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видно, откуда грузятся библиотеки (</a:t>
            </a:r>
            <a:r>
              <a:rPr lang="en-US" sz="800" dirty="0">
                <a:solidFill>
                  <a:srgbClr val="6B7280"/>
                </a:solidFill>
                <a:highlight>
                  <a:srgbClr val="F7F7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ld.so.cache</a:t>
            </a: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00" dirty="0">
                <a:solidFill>
                  <a:srgbClr val="6B7280"/>
                </a:solidFill>
                <a:highlight>
                  <a:srgbClr val="F7F7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*.so</a:t>
            </a: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и какие пути программа ищет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661297" y="1188988"/>
            <a:ext cx="4079081" cy="3550890"/>
          </a:xfrm>
          <a:prstGeom prst="rect">
            <a:avLst/>
          </a:prstGeom>
          <a:solidFill>
            <a:srgbClr val="FFFFFF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4822031" y="1617613"/>
            <a:ext cx="3757613" cy="0"/>
          </a:xfrm>
          <a:prstGeom prst="line">
            <a:avLst/>
          </a:prstGeom>
          <a:noFill/>
          <a:ln w="7144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1908" y="1308717"/>
            <a:ext cx="543322" cy="232029"/>
          </a:xfrm>
          <a:prstGeom prst="roundRect">
            <a:avLst>
              <a:gd name="adj" fmla="val 4100985"/>
            </a:avLst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822031" y="1321147"/>
            <a:ext cx="50307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1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ltrace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822031" y="1889968"/>
            <a:ext cx="411480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9CA3A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01</a:t>
            </a:r>
            <a:endParaRPr lang="en-US" sz="1069" dirty="0"/>
          </a:p>
        </p:txBody>
      </p:sp>
      <p:sp>
        <p:nvSpPr>
          <p:cNvPr id="41" name="Text 39"/>
          <p:cNvSpPr/>
          <p:nvPr/>
        </p:nvSpPr>
        <p:spPr>
          <a:xfrm>
            <a:off x="5179219" y="1844092"/>
            <a:ext cx="3270422" cy="128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16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Подозрение на утечку памяти</a:t>
            </a:r>
            <a:endParaRPr lang="en-US" sz="816" dirty="0"/>
          </a:p>
        </p:txBody>
      </p:sp>
      <p:sp>
        <p:nvSpPr>
          <p:cNvPr id="42" name="Text 40"/>
          <p:cNvSpPr/>
          <p:nvPr/>
        </p:nvSpPr>
        <p:spPr>
          <a:xfrm>
            <a:off x="5921499" y="2021570"/>
            <a:ext cx="628092" cy="107156"/>
          </a:xfrm>
          <a:prstGeom prst="roundRect">
            <a:avLst>
              <a:gd name="adj" fmla="val 35556"/>
            </a:avLst>
          </a:prstGeom>
          <a:solidFill>
            <a:srgbClr val="F7F7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179219" y="2000138"/>
            <a:ext cx="302816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следим за парами </a:t>
            </a:r>
            <a:r>
              <a:rPr lang="en-US" sz="731" dirty="0">
                <a:solidFill>
                  <a:srgbClr val="6B7280"/>
                </a:solidFill>
                <a:highlight>
                  <a:srgbClr val="F7F7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malloc/free</a:t>
            </a:r>
            <a:r>
              <a:rPr lang="en-US" sz="73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находим выделения без освобождения</a:t>
            </a:r>
            <a:endParaRPr lang="en-US" sz="731" dirty="0"/>
          </a:p>
        </p:txBody>
      </p:sp>
      <p:sp>
        <p:nvSpPr>
          <p:cNvPr id="44" name="Shape 42"/>
          <p:cNvSpPr/>
          <p:nvPr/>
        </p:nvSpPr>
        <p:spPr>
          <a:xfrm>
            <a:off x="4822031" y="2366032"/>
            <a:ext cx="3757613" cy="0"/>
          </a:xfrm>
          <a:prstGeom prst="line">
            <a:avLst/>
          </a:prstGeom>
          <a:noFill/>
          <a:ln w="7144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22031" y="2638388"/>
            <a:ext cx="411480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9CA3A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02</a:t>
            </a:r>
            <a:endParaRPr lang="en-US" sz="1069" dirty="0"/>
          </a:p>
        </p:txBody>
      </p:sp>
      <p:sp>
        <p:nvSpPr>
          <p:cNvPr id="46" name="Text 44"/>
          <p:cNvSpPr/>
          <p:nvPr/>
        </p:nvSpPr>
        <p:spPr>
          <a:xfrm>
            <a:off x="5179219" y="2522860"/>
            <a:ext cx="3400425" cy="1286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16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Отладка логики</a:t>
            </a:r>
            <a:endParaRPr lang="en-US" sz="816" dirty="0"/>
          </a:p>
        </p:txBody>
      </p:sp>
      <p:sp>
        <p:nvSpPr>
          <p:cNvPr id="47" name="Text 45"/>
          <p:cNvSpPr/>
          <p:nvPr/>
        </p:nvSpPr>
        <p:spPr>
          <a:xfrm>
            <a:off x="7901880" y="2700338"/>
            <a:ext cx="381633" cy="107156"/>
          </a:xfrm>
          <a:prstGeom prst="roundRect">
            <a:avLst>
              <a:gd name="adj" fmla="val 35556"/>
            </a:avLst>
          </a:prstGeom>
          <a:solidFill>
            <a:srgbClr val="F7F7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179219" y="2839641"/>
            <a:ext cx="381633" cy="107156"/>
          </a:xfrm>
          <a:prstGeom prst="roundRect">
            <a:avLst>
              <a:gd name="adj" fmla="val 35556"/>
            </a:avLst>
          </a:prstGeom>
          <a:solidFill>
            <a:srgbClr val="F7F7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605053" y="2839641"/>
            <a:ext cx="480194" cy="107156"/>
          </a:xfrm>
          <a:prstGeom prst="roundRect">
            <a:avLst>
              <a:gd name="adj" fmla="val 35556"/>
            </a:avLst>
          </a:prstGeom>
          <a:solidFill>
            <a:srgbClr val="F7F7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5179219" y="2678906"/>
            <a:ext cx="340042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библиотечные функции и с какими аргументами вызываются (</a:t>
            </a:r>
            <a:r>
              <a:rPr lang="en-US" sz="800" dirty="0">
                <a:solidFill>
                  <a:srgbClr val="6B7280"/>
                </a:solidFill>
                <a:highlight>
                  <a:srgbClr val="F7F7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strcpy</a:t>
            </a: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00" dirty="0">
                <a:solidFill>
                  <a:srgbClr val="6B7280"/>
                </a:solidFill>
                <a:highlight>
                  <a:srgbClr val="F7F7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</a:t>
            </a: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00" dirty="0">
                <a:solidFill>
                  <a:srgbClr val="6B7280"/>
                </a:solidFill>
                <a:highlight>
                  <a:srgbClr val="F7F7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SSL_read</a:t>
            </a: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4822031" y="3114452"/>
            <a:ext cx="3757613" cy="0"/>
          </a:xfrm>
          <a:prstGeom prst="line">
            <a:avLst/>
          </a:prstGeom>
          <a:noFill/>
          <a:ln w="7144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22031" y="3386807"/>
            <a:ext cx="411480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9CA3A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03</a:t>
            </a:r>
            <a:endParaRPr lang="en-US" sz="1069" dirty="0"/>
          </a:p>
        </p:txBody>
      </p:sp>
      <p:sp>
        <p:nvSpPr>
          <p:cNvPr id="53" name="Text 51"/>
          <p:cNvSpPr/>
          <p:nvPr/>
        </p:nvSpPr>
        <p:spPr>
          <a:xfrm>
            <a:off x="5179219" y="3340931"/>
            <a:ext cx="2369546" cy="128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16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сторонних библиотек</a:t>
            </a:r>
            <a:endParaRPr lang="en-US" sz="816" dirty="0"/>
          </a:p>
        </p:txBody>
      </p:sp>
      <p:sp>
        <p:nvSpPr>
          <p:cNvPr id="54" name="Text 52"/>
          <p:cNvSpPr/>
          <p:nvPr/>
        </p:nvSpPr>
        <p:spPr>
          <a:xfrm>
            <a:off x="5501134" y="3518408"/>
            <a:ext cx="775990" cy="107156"/>
          </a:xfrm>
          <a:prstGeom prst="roundRect">
            <a:avLst>
              <a:gd name="adj" fmla="val 35556"/>
            </a:avLst>
          </a:prstGeom>
          <a:solidFill>
            <a:srgbClr val="F7F7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6321326" y="3518408"/>
            <a:ext cx="233735" cy="107156"/>
          </a:xfrm>
          <a:prstGeom prst="roundRect">
            <a:avLst>
              <a:gd name="adj" fmla="val 35556"/>
            </a:avLst>
          </a:prstGeom>
          <a:solidFill>
            <a:srgbClr val="F7F7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5179219" y="3496977"/>
            <a:ext cx="23695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вызовы </a:t>
            </a:r>
            <a:r>
              <a:rPr lang="en-US" sz="731" dirty="0">
                <a:solidFill>
                  <a:srgbClr val="6B7280"/>
                </a:solidFill>
                <a:highlight>
                  <a:srgbClr val="F7F7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pthread_create</a:t>
            </a:r>
            <a:r>
              <a:rPr lang="en-US" sz="73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731" dirty="0">
                <a:solidFill>
                  <a:srgbClr val="6B7280"/>
                </a:solidFill>
                <a:highlight>
                  <a:srgbClr val="F7F7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SSL</a:t>
            </a:r>
            <a:r>
              <a:rPr lang="en-US" sz="73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работа со строками</a:t>
            </a:r>
            <a:endParaRPr lang="en-US" sz="731" dirty="0"/>
          </a:p>
        </p:txBody>
      </p:sp>
      <p:sp>
        <p:nvSpPr>
          <p:cNvPr id="57" name="Shape 55"/>
          <p:cNvSpPr/>
          <p:nvPr/>
        </p:nvSpPr>
        <p:spPr>
          <a:xfrm>
            <a:off x="4822031" y="3862871"/>
            <a:ext cx="3757613" cy="0"/>
          </a:xfrm>
          <a:prstGeom prst="line">
            <a:avLst/>
          </a:prstGeom>
          <a:noFill/>
          <a:ln w="7144">
            <a:solidFill>
              <a:srgbClr val="E5E7E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822031" y="4135227"/>
            <a:ext cx="411480" cy="219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9CA3A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04</a:t>
            </a:r>
            <a:endParaRPr lang="en-US" sz="1069" dirty="0"/>
          </a:p>
        </p:txBody>
      </p:sp>
      <p:sp>
        <p:nvSpPr>
          <p:cNvPr id="59" name="Text 57"/>
          <p:cNvSpPr/>
          <p:nvPr/>
        </p:nvSpPr>
        <p:spPr>
          <a:xfrm>
            <a:off x="5179219" y="4089350"/>
            <a:ext cx="2589310" cy="1286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816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доходят до функции?</a:t>
            </a:r>
            <a:endParaRPr lang="en-US" sz="816" dirty="0"/>
          </a:p>
        </p:txBody>
      </p:sp>
      <p:sp>
        <p:nvSpPr>
          <p:cNvPr id="60" name="Text 58"/>
          <p:cNvSpPr/>
          <p:nvPr/>
        </p:nvSpPr>
        <p:spPr>
          <a:xfrm>
            <a:off x="5179219" y="4245397"/>
            <a:ext cx="239750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аргументы и возвращаемые значения видны прямо в трассе</a:t>
            </a:r>
            <a:endParaRPr lang="en-US" sz="73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3622" y="403622"/>
            <a:ext cx="2644378" cy="176808"/>
          </a:xfrm>
          <a:prstGeom prst="roundRect">
            <a:avLst>
              <a:gd name="adj" fmla="val 5381812"/>
            </a:avLst>
          </a:prstGeom>
          <a:noFill/>
          <a:ln w="7144">
            <a:solidFill>
              <a:srgbClr val="0A0A0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8631" y="463451"/>
            <a:ext cx="57150" cy="57150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0075" y="435769"/>
            <a:ext cx="2409825" cy="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106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КОГДА ЭТО АКТУАЛЬНО · PERF / LFT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7250642" y="433090"/>
            <a:ext cx="148973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профиль CPU · tcp-порты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00050" y="669727"/>
            <a:ext cx="8343900" cy="7144"/>
          </a:xfrm>
          <a:prstGeom prst="rect">
            <a:avLst/>
          </a:prstGeom>
          <a:solidFill>
            <a:srgbClr val="D1D5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00050" y="776883"/>
            <a:ext cx="8636000" cy="27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80"/>
              </a:lnSpc>
              <a:buNone/>
            </a:pPr>
            <a:r>
              <a:rPr lang="en-US" sz="1800" b="1" kern="0" spc="-18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это актуально: perf и lft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00050" y="1213991"/>
            <a:ext cx="650244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00050" y="1485454"/>
            <a:ext cx="314325" cy="14288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03622" y="1603325"/>
            <a:ext cx="4079081" cy="714487"/>
          </a:xfrm>
          <a:prstGeom prst="roundRect">
            <a:avLst>
              <a:gd name="adj" fmla="val 13331"/>
            </a:avLst>
          </a:prstGeom>
          <a:solidFill>
            <a:srgbClr val="F7F7F8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21494" y="1795314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07206" y="1806029"/>
            <a:ext cx="2000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64381" y="1808931"/>
            <a:ext cx="3600450" cy="14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работает медленно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64381" y="2009626"/>
            <a:ext cx="628092" cy="107156"/>
          </a:xfrm>
          <a:prstGeom prst="roundRect">
            <a:avLst>
              <a:gd name="adj" fmla="val 35556"/>
            </a:avLst>
          </a:prstGeom>
          <a:solidFill>
            <a:srgbClr val="F7F7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479426" y="2009626"/>
            <a:ext cx="381633" cy="107156"/>
          </a:xfrm>
          <a:prstGeom prst="roundRect">
            <a:avLst>
              <a:gd name="adj" fmla="val 35556"/>
            </a:avLst>
          </a:prstGeom>
          <a:solidFill>
            <a:srgbClr val="F7F7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21494" y="1988195"/>
            <a:ext cx="3843338" cy="165021"/>
          </a:xfrm>
          <a:prstGeom prst="rect">
            <a:avLst/>
          </a:prstGeom>
          <a:noFill/>
          <a:ln/>
        </p:spPr>
        <p:txBody>
          <a:bodyPr wrap="square" lIns="242888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00" dirty="0">
                <a:solidFill>
                  <a:srgbClr val="6B7280"/>
                </a:solidFill>
                <a:highlight>
                  <a:srgbClr val="F7F7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 record</a:t>
            </a: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800" dirty="0">
                <a:solidFill>
                  <a:srgbClr val="6B7280"/>
                </a:solidFill>
                <a:highlight>
                  <a:srgbClr val="F7F7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</a:t>
            </a: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покажут, куда уходит процессорное время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03622" y="2410681"/>
            <a:ext cx="4079081" cy="714487"/>
          </a:xfrm>
          <a:prstGeom prst="roundRect">
            <a:avLst>
              <a:gd name="adj" fmla="val 13331"/>
            </a:avLst>
          </a:prstGeom>
          <a:solidFill>
            <a:srgbClr val="F7F7F8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21494" y="2534134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02444" y="2534134"/>
            <a:ext cx="2000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64381" y="2547751"/>
            <a:ext cx="3600450" cy="14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Оптимизация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97471" y="2748446"/>
            <a:ext cx="480194" cy="107156"/>
          </a:xfrm>
          <a:prstGeom prst="roundRect">
            <a:avLst>
              <a:gd name="adj" fmla="val 35556"/>
            </a:avLst>
          </a:prstGeom>
          <a:solidFill>
            <a:srgbClr val="F7F7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768525" y="2748446"/>
            <a:ext cx="282959" cy="107156"/>
          </a:xfrm>
          <a:prstGeom prst="roundRect">
            <a:avLst>
              <a:gd name="adj" fmla="val 35556"/>
            </a:avLst>
          </a:prstGeom>
          <a:solidFill>
            <a:srgbClr val="F7F7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21494" y="2727015"/>
            <a:ext cx="3843338" cy="323143"/>
          </a:xfrm>
          <a:prstGeom prst="rect">
            <a:avLst/>
          </a:prstGeom>
          <a:noFill/>
          <a:ln/>
        </p:spPr>
        <p:txBody>
          <a:bodyPr wrap="square" lIns="242888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</a:t>
            </a:r>
            <a:r>
              <a:rPr lang="en-US" sz="800" dirty="0">
                <a:solidFill>
                  <a:srgbClr val="6B7280"/>
                </a:solidFill>
                <a:highlight>
                  <a:srgbClr val="F7F7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Children</a:t>
            </a: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800" dirty="0">
                <a:solidFill>
                  <a:srgbClr val="6B7280"/>
                </a:solidFill>
                <a:highlight>
                  <a:srgbClr val="F7F7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</a:t>
            </a: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подсказывает: тратить ли усилия на саму функцию или на то, что она вызывает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03622" y="3218036"/>
            <a:ext cx="4079081" cy="714487"/>
          </a:xfrm>
          <a:prstGeom prst="roundRect">
            <a:avLst>
              <a:gd name="adj" fmla="val 13331"/>
            </a:avLst>
          </a:prstGeom>
          <a:solidFill>
            <a:srgbClr val="F7F7F8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521494" y="3410024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02444" y="3410024"/>
            <a:ext cx="2000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64381" y="3423642"/>
            <a:ext cx="3600450" cy="14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Виновник — приложение или ядро?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47229" y="3624337"/>
            <a:ext cx="233735" cy="107156"/>
          </a:xfrm>
          <a:prstGeom prst="roundRect">
            <a:avLst>
              <a:gd name="adj" fmla="val 35556"/>
            </a:avLst>
          </a:prstGeom>
          <a:solidFill>
            <a:srgbClr val="F7F7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149822" y="3624337"/>
            <a:ext cx="233735" cy="107156"/>
          </a:xfrm>
          <a:prstGeom prst="roundRect">
            <a:avLst>
              <a:gd name="adj" fmla="val 35556"/>
            </a:avLst>
          </a:prstGeom>
          <a:solidFill>
            <a:srgbClr val="F7F7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225961" y="3624337"/>
            <a:ext cx="381633" cy="107156"/>
          </a:xfrm>
          <a:prstGeom prst="roundRect">
            <a:avLst>
              <a:gd name="adj" fmla="val 35556"/>
            </a:avLst>
          </a:prstGeom>
          <a:solidFill>
            <a:srgbClr val="F7F7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21494" y="3602906"/>
            <a:ext cx="3843338" cy="165021"/>
          </a:xfrm>
          <a:prstGeom prst="rect">
            <a:avLst/>
          </a:prstGeom>
          <a:noFill/>
          <a:ln/>
        </p:spPr>
        <p:txBody>
          <a:bodyPr wrap="square" lIns="242888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строки </a:t>
            </a:r>
            <a:r>
              <a:rPr lang="en-US" sz="800" dirty="0">
                <a:solidFill>
                  <a:srgbClr val="6B7280"/>
                </a:solidFill>
                <a:highlight>
                  <a:srgbClr val="F7F7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[.]</a:t>
            </a: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(пользовательские) и </a:t>
            </a:r>
            <a:r>
              <a:rPr lang="en-US" sz="800" dirty="0">
                <a:solidFill>
                  <a:srgbClr val="6B7280"/>
                </a:solidFill>
                <a:highlight>
                  <a:srgbClr val="F7F7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[k]</a:t>
            </a: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(ядерные) в колонке </a:t>
            </a:r>
            <a:r>
              <a:rPr lang="en-US" sz="800" dirty="0">
                <a:solidFill>
                  <a:srgbClr val="6B7280"/>
                </a:solidFill>
                <a:highlight>
                  <a:srgbClr val="F7F7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03622" y="4025392"/>
            <a:ext cx="4079081" cy="714487"/>
          </a:xfrm>
          <a:prstGeom prst="roundRect">
            <a:avLst>
              <a:gd name="adj" fmla="val 13331"/>
            </a:avLst>
          </a:prstGeom>
          <a:solidFill>
            <a:srgbClr val="F7F7F8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21494" y="4217380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07207" y="4222045"/>
            <a:ext cx="2000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04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64381" y="4230998"/>
            <a:ext cx="3600450" cy="14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после изменений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036290" y="4431692"/>
            <a:ext cx="381633" cy="107156"/>
          </a:xfrm>
          <a:prstGeom prst="roundRect">
            <a:avLst>
              <a:gd name="adj" fmla="val 35556"/>
            </a:avLst>
          </a:prstGeom>
          <a:solidFill>
            <a:srgbClr val="F7F7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21494" y="4410261"/>
            <a:ext cx="3843338" cy="165021"/>
          </a:xfrm>
          <a:prstGeom prst="rect">
            <a:avLst/>
          </a:prstGeom>
          <a:noFill/>
          <a:ln/>
        </p:spPr>
        <p:txBody>
          <a:bodyPr wrap="square" lIns="242888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</a:t>
            </a:r>
            <a:r>
              <a:rPr lang="en-US" sz="800" dirty="0">
                <a:solidFill>
                  <a:srgbClr val="6B7280"/>
                </a:solidFill>
                <a:highlight>
                  <a:srgbClr val="F7F7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record</a:t>
            </a: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до и после рефакторинга для сравнения профиля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657725" y="1213991"/>
            <a:ext cx="487815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350" b="1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lft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4657725" y="1485454"/>
            <a:ext cx="314325" cy="14288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4661297" y="1603325"/>
            <a:ext cx="4079081" cy="714487"/>
          </a:xfrm>
          <a:prstGeom prst="roundRect">
            <a:avLst>
              <a:gd name="adj" fmla="val 13331"/>
            </a:avLst>
          </a:prstGeom>
          <a:solidFill>
            <a:srgbClr val="F7F7F8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779169" y="1795314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769643" y="1799786"/>
            <a:ext cx="2000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01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022056" y="1808931"/>
            <a:ext cx="3600450" cy="14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порты слушает запущенный сервер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022056" y="2009626"/>
            <a:ext cx="726653" cy="107156"/>
          </a:xfrm>
          <a:prstGeom prst="roundRect">
            <a:avLst>
              <a:gd name="adj" fmla="val 35556"/>
            </a:avLst>
          </a:prstGeom>
          <a:solidFill>
            <a:srgbClr val="F7F7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825393" y="2009626"/>
            <a:ext cx="825326" cy="107156"/>
          </a:xfrm>
          <a:prstGeom prst="roundRect">
            <a:avLst>
              <a:gd name="adj" fmla="val 35556"/>
            </a:avLst>
          </a:prstGeom>
          <a:solidFill>
            <a:srgbClr val="F7F7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779169" y="1988195"/>
            <a:ext cx="3843338" cy="165021"/>
          </a:xfrm>
          <a:prstGeom prst="rect">
            <a:avLst/>
          </a:prstGeom>
          <a:noFill/>
          <a:ln/>
        </p:spPr>
        <p:txBody>
          <a:bodyPr wrap="square" lIns="242888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00" dirty="0">
                <a:solidFill>
                  <a:srgbClr val="6B7280"/>
                </a:solidFill>
                <a:highlight>
                  <a:srgbClr val="F7F7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[target open]</a:t>
            </a: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800" dirty="0">
                <a:solidFill>
                  <a:srgbClr val="6B7280"/>
                </a:solidFill>
                <a:highlight>
                  <a:srgbClr val="F7F7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[target closed]</a:t>
            </a: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для конкретного порта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661297" y="2410681"/>
            <a:ext cx="4079081" cy="714487"/>
          </a:xfrm>
          <a:prstGeom prst="roundRect">
            <a:avLst>
              <a:gd name="adj" fmla="val 13331"/>
            </a:avLst>
          </a:prstGeom>
          <a:solidFill>
            <a:srgbClr val="F7F7F8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4779169" y="2602669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4769642" y="2602669"/>
            <a:ext cx="2000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02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022056" y="2616287"/>
            <a:ext cx="3600450" cy="14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Диагностика маршрута на транспортном уровне (TCP/UDP)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802064" y="2816982"/>
            <a:ext cx="578755" cy="107156"/>
          </a:xfrm>
          <a:prstGeom prst="roundRect">
            <a:avLst>
              <a:gd name="adj" fmla="val 35556"/>
            </a:avLst>
          </a:prstGeom>
          <a:solidFill>
            <a:srgbClr val="F7F7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4779169" y="2795550"/>
            <a:ext cx="3843338" cy="165021"/>
          </a:xfrm>
          <a:prstGeom prst="rect">
            <a:avLst/>
          </a:prstGeom>
          <a:noFill/>
          <a:ln/>
        </p:spPr>
        <p:txBody>
          <a:bodyPr wrap="square" lIns="242888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когда классический </a:t>
            </a:r>
            <a:r>
              <a:rPr lang="en-US" sz="800" dirty="0">
                <a:solidFill>
                  <a:srgbClr val="6B7280"/>
                </a:solidFill>
                <a:highlight>
                  <a:srgbClr val="F7F7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traceroute</a:t>
            </a: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(ICMP/IP) не отвечает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661297" y="3218036"/>
            <a:ext cx="4079081" cy="714487"/>
          </a:xfrm>
          <a:prstGeom prst="roundRect">
            <a:avLst>
              <a:gd name="adj" fmla="val 13331"/>
            </a:avLst>
          </a:prstGeom>
          <a:solidFill>
            <a:srgbClr val="F7F7F8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4779169" y="3410024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4765352" y="3418116"/>
            <a:ext cx="2000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03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022056" y="3423642"/>
            <a:ext cx="3600450" cy="14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firewall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783660" y="3624337"/>
            <a:ext cx="381633" cy="107156"/>
          </a:xfrm>
          <a:prstGeom prst="roundRect">
            <a:avLst>
              <a:gd name="adj" fmla="val 35556"/>
            </a:avLst>
          </a:prstGeom>
          <a:solidFill>
            <a:srgbClr val="F7F7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4779169" y="3602906"/>
            <a:ext cx="3843338" cy="165021"/>
          </a:xfrm>
          <a:prstGeom prst="rect">
            <a:avLst/>
          </a:prstGeom>
          <a:noFill/>
          <a:ln/>
        </p:spPr>
        <p:txBody>
          <a:bodyPr wrap="square" lIns="242888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 закрыт фильтром, трассировка покажет </a:t>
            </a:r>
            <a:r>
              <a:rPr lang="en-US" sz="800" dirty="0">
                <a:solidFill>
                  <a:srgbClr val="6B7280"/>
                </a:solidFill>
                <a:highlight>
                  <a:srgbClr val="F7F7F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closed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4661297" y="4025392"/>
            <a:ext cx="4079081" cy="714487"/>
          </a:xfrm>
          <a:prstGeom prst="roundRect">
            <a:avLst>
              <a:gd name="adj" fmla="val 13331"/>
            </a:avLst>
          </a:prstGeom>
          <a:solidFill>
            <a:srgbClr val="F7F7F8"/>
          </a:solidFill>
          <a:ln w="7144">
            <a:solidFill>
              <a:srgbClr val="E5E7EB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4779169" y="4217603"/>
            <a:ext cx="157163" cy="157163"/>
          </a:xfrm>
          <a:prstGeom prst="roundRect">
            <a:avLst>
              <a:gd name="adj" fmla="val 36364"/>
            </a:avLst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4767260" y="4222283"/>
            <a:ext cx="200025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28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04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5022056" y="4231221"/>
            <a:ext cx="3600450" cy="14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Доступность сервиса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779169" y="4410484"/>
            <a:ext cx="3843338" cy="164485"/>
          </a:xfrm>
          <a:prstGeom prst="rect">
            <a:avLst/>
          </a:prstGeom>
          <a:noFill/>
          <a:ln/>
        </p:spPr>
        <p:txBody>
          <a:bodyPr wrap="square" lIns="242888" tIns="0" rIns="0" bIns="0" rtlCol="0" anchor="t"/>
          <a:lstStyle/>
          <a:p>
            <a:pPr marL="0" indent="0" algn="l">
              <a:lnSpc>
                <a:spcPts val="108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проверить порт до того, как к нему подключится клиент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7190" y="389013"/>
            <a:ext cx="909556" cy="206026"/>
          </a:xfrm>
          <a:prstGeom prst="roundRect">
            <a:avLst>
              <a:gd name="adj" fmla="val 4618580"/>
            </a:avLst>
          </a:prstGeom>
          <a:noFill/>
          <a:ln w="7144">
            <a:solidFill>
              <a:srgbClr val="0A0A0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629" y="435769"/>
            <a:ext cx="585229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106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ЗАКЛЮЧЕНИЕ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883449" y="416916"/>
            <a:ext cx="181367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62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strace · ltrace · perf · lft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00050" y="669727"/>
            <a:ext cx="8343900" cy="7144"/>
          </a:xfrm>
          <a:prstGeom prst="rect">
            <a:avLst/>
          </a:prstGeom>
          <a:solidFill>
            <a:srgbClr val="D1D5D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00050" y="805458"/>
            <a:ext cx="8636000" cy="349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1"/>
              </a:lnSpc>
              <a:buNone/>
            </a:pPr>
            <a:r>
              <a:rPr lang="en-US" sz="2363" b="1" kern="0" spc="-35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Итоги: четыре точки наблюдения</a:t>
            </a:r>
            <a:endParaRPr lang="en-US" sz="2363" dirty="0"/>
          </a:p>
        </p:txBody>
      </p:sp>
      <p:sp>
        <p:nvSpPr>
          <p:cNvPr id="8" name="Text 6"/>
          <p:cNvSpPr/>
          <p:nvPr/>
        </p:nvSpPr>
        <p:spPr>
          <a:xfrm>
            <a:off x="383395" y="1741512"/>
            <a:ext cx="184221" cy="119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00050" y="1898675"/>
            <a:ext cx="2487168" cy="2333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772"/>
              </a:lnSpc>
              <a:buNone/>
            </a:pPr>
            <a:r>
              <a:rPr lang="en-US" sz="1181" b="1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ltrace</a:t>
            </a:r>
            <a:endParaRPr lang="en-US" sz="1181" dirty="0"/>
          </a:p>
        </p:txBody>
      </p:sp>
      <p:sp>
        <p:nvSpPr>
          <p:cNvPr id="10" name="Text 8"/>
          <p:cNvSpPr/>
          <p:nvPr/>
        </p:nvSpPr>
        <p:spPr>
          <a:xfrm>
            <a:off x="400050" y="2159422"/>
            <a:ext cx="2040255" cy="153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 программы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89597" y="1684362"/>
            <a:ext cx="0" cy="604986"/>
          </a:xfrm>
          <a:prstGeom prst="line">
            <a:avLst/>
          </a:prstGeom>
          <a:noFill/>
          <a:ln w="7144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19389" y="1741512"/>
            <a:ext cx="184221" cy="119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36044" y="1898675"/>
            <a:ext cx="1793081" cy="2333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772"/>
              </a:lnSpc>
              <a:buNone/>
            </a:pPr>
            <a:r>
              <a:rPr lang="en-US" sz="1181" b="1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strace</a:t>
            </a:r>
            <a:endParaRPr lang="en-US" sz="1181" dirty="0"/>
          </a:p>
        </p:txBody>
      </p:sp>
      <p:sp>
        <p:nvSpPr>
          <p:cNvPr id="14" name="Text 12"/>
          <p:cNvSpPr/>
          <p:nvPr/>
        </p:nvSpPr>
        <p:spPr>
          <a:xfrm>
            <a:off x="2636044" y="2159422"/>
            <a:ext cx="1793081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граница с ядром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5572" y="1684362"/>
            <a:ext cx="0" cy="604986"/>
          </a:xfrm>
          <a:prstGeom prst="line">
            <a:avLst/>
          </a:prstGeom>
          <a:noFill/>
          <a:ln w="7144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5364" y="1741512"/>
            <a:ext cx="184221" cy="119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722019" y="1898675"/>
            <a:ext cx="1793081" cy="2333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772"/>
              </a:lnSpc>
              <a:buNone/>
            </a:pPr>
            <a:r>
              <a:rPr lang="en-US" sz="1181" b="1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</a:t>
            </a:r>
            <a:endParaRPr lang="en-US" sz="1181" dirty="0"/>
          </a:p>
        </p:txBody>
      </p:sp>
      <p:sp>
        <p:nvSpPr>
          <p:cNvPr id="18" name="Text 16"/>
          <p:cNvSpPr/>
          <p:nvPr/>
        </p:nvSpPr>
        <p:spPr>
          <a:xfrm>
            <a:off x="4722019" y="2159422"/>
            <a:ext cx="1793081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CPU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661547" y="1684362"/>
            <a:ext cx="0" cy="604986"/>
          </a:xfrm>
          <a:prstGeom prst="line">
            <a:avLst/>
          </a:prstGeom>
          <a:noFill/>
          <a:ln w="7144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91339" y="1741512"/>
            <a:ext cx="184221" cy="119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dirty="0">
                <a:solidFill>
                  <a:srgbClr val="9CA3AF"/>
                </a:solidFill>
                <a:latin typeface="Arial Narrow" pitchFamily="34" charset="0"/>
                <a:ea typeface="Arial Narrow" pitchFamily="34" charset="-122"/>
                <a:cs typeface="Arial Narrow" pitchFamily="34" charset="-120"/>
              </a:rPr>
              <a:t>04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807994" y="1898675"/>
            <a:ext cx="1935956" cy="23331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772"/>
              </a:lnSpc>
              <a:buNone/>
            </a:pPr>
            <a:r>
              <a:rPr lang="en-US" sz="1181" b="1" dirty="0">
                <a:solidFill>
                  <a:srgbClr val="0A0A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lft</a:t>
            </a:r>
            <a:endParaRPr lang="en-US" sz="1181" dirty="0"/>
          </a:p>
        </p:txBody>
      </p:sp>
      <p:sp>
        <p:nvSpPr>
          <p:cNvPr id="22" name="Text 20"/>
          <p:cNvSpPr/>
          <p:nvPr/>
        </p:nvSpPr>
        <p:spPr>
          <a:xfrm>
            <a:off x="6807994" y="2159422"/>
            <a:ext cx="1935956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24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сеть и порты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00050" y="2489374"/>
            <a:ext cx="8343900" cy="1334095"/>
          </a:xfrm>
          <a:prstGeom prst="roundRect">
            <a:avLst>
              <a:gd name="adj" fmla="val 7140"/>
            </a:avLst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00050" y="2734047"/>
            <a:ext cx="8343900" cy="0"/>
          </a:xfrm>
          <a:prstGeom prst="line">
            <a:avLst/>
          </a:prstGeom>
          <a:noFill/>
          <a:ln w="7144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8638" y="2577778"/>
            <a:ext cx="64294" cy="64294"/>
          </a:xfrm>
          <a:prstGeom prst="roundRect">
            <a:avLst>
              <a:gd name="adj" fmla="val 148132757"/>
            </a:avLst>
          </a:prstGeom>
          <a:solidFill>
            <a:srgbClr val="E5E7E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35794" y="2577778"/>
            <a:ext cx="64294" cy="64294"/>
          </a:xfrm>
          <a:prstGeom prst="roundRect">
            <a:avLst>
              <a:gd name="adj" fmla="val 148132757"/>
            </a:avLst>
          </a:prstGeom>
          <a:solidFill>
            <a:srgbClr val="9CA3A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42950" y="2577778"/>
            <a:ext cx="64294" cy="64294"/>
          </a:xfrm>
          <a:prstGeom prst="roundRect">
            <a:avLst>
              <a:gd name="adj" fmla="val 148132757"/>
            </a:avLst>
          </a:prstGeom>
          <a:solidFill>
            <a:srgbClr val="6B728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8210178" y="2553667"/>
            <a:ext cx="405185" cy="1125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6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шпаргалка</a:t>
            </a:r>
            <a:endParaRPr lang="en-US" sz="600" dirty="0"/>
          </a:p>
        </p:txBody>
      </p:sp>
      <p:sp>
        <p:nvSpPr>
          <p:cNvPr id="29" name="Text 27"/>
          <p:cNvSpPr/>
          <p:nvPr/>
        </p:nvSpPr>
        <p:spPr>
          <a:xfrm>
            <a:off x="557213" y="2823344"/>
            <a:ext cx="8029575" cy="9566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44"/>
              </a:lnSpc>
              <a:buNone/>
            </a:pPr>
            <a:r>
              <a:rPr lang="en-US" sz="87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зависает</a:t>
            </a:r>
            <a:r>
              <a:rPr lang="en-US" sz="872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872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r>
              <a:rPr lang="en-US" sz="872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sudo strace -p $(pidof prog) -tt -T</a:t>
            </a:r>
            <a:endParaRPr lang="en-US" sz="872" dirty="0"/>
          </a:p>
          <a:p>
            <a:pPr marL="0" indent="0" algn="l">
              <a:lnSpc>
                <a:spcPts val="1744"/>
              </a:lnSpc>
              <a:buNone/>
            </a:pPr>
            <a:r>
              <a:rPr lang="en-US" sz="87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течёт память</a:t>
            </a:r>
            <a:r>
              <a:rPr lang="en-US" sz="872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72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r>
              <a:rPr lang="en-US" sz="872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ltrace -e malloc+free ./prog</a:t>
            </a:r>
            <a:endParaRPr lang="en-US" sz="872" dirty="0"/>
          </a:p>
          <a:p>
            <a:pPr marL="0" indent="0" algn="l">
              <a:lnSpc>
                <a:spcPts val="1744"/>
              </a:lnSpc>
              <a:buNone/>
            </a:pPr>
            <a:r>
              <a:rPr lang="en-US" sz="87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тормозит</a:t>
            </a:r>
            <a:r>
              <a:rPr lang="en-US" sz="872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872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r>
              <a:rPr lang="en-US" sz="872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perf record -g ./prog &amp;&amp; perf report</a:t>
            </a:r>
            <a:endParaRPr lang="en-US" sz="872" dirty="0"/>
          </a:p>
          <a:p>
            <a:pPr marL="0" indent="0" algn="l">
              <a:lnSpc>
                <a:spcPts val="1744"/>
              </a:lnSpc>
              <a:buNone/>
            </a:pPr>
            <a:r>
              <a:rPr lang="en-US" sz="872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порт молчит</a:t>
            </a:r>
            <a:r>
              <a:rPr lang="en-US" sz="872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872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r>
              <a:rPr lang="en-US" sz="872" dirty="0">
                <a:solidFill>
                  <a:srgbClr val="F5F5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sudo lft -T -d &lt;порт&gt; &lt;хост&gt;</a:t>
            </a:r>
            <a:endParaRPr lang="en-US" sz="872" dirty="0"/>
          </a:p>
        </p:txBody>
      </p:sp>
      <p:sp>
        <p:nvSpPr>
          <p:cNvPr id="30" name="Text 28"/>
          <p:cNvSpPr/>
          <p:nvPr/>
        </p:nvSpPr>
        <p:spPr>
          <a:xfrm>
            <a:off x="400050" y="4378337"/>
            <a:ext cx="328613" cy="14288"/>
          </a:xfrm>
          <a:prstGeom prst="rect">
            <a:avLst/>
          </a:prstGeom>
          <a:solidFill>
            <a:srgbClr val="0A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00050" y="4492637"/>
            <a:ext cx="7286625" cy="270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74"/>
              </a:lnSpc>
              <a:buNone/>
            </a:pPr>
            <a:r>
              <a:rPr lang="en-US" sz="1519" b="1" kern="0" spc="-15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Смотреть за программой в действии быстрее, чем гадать по исходному коду</a:t>
            </a:r>
            <a:endParaRPr lang="en-US" sz="151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5026</Words>
  <Application>Microsoft Office PowerPoint</Application>
  <PresentationFormat>Экран (16:9)</PresentationFormat>
  <Paragraphs>527</Paragraphs>
  <Slides>18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3" baseType="lpstr">
      <vt:lpstr>Arial</vt:lpstr>
      <vt:lpstr>Arial Narrow</vt:lpstr>
      <vt:lpstr>Calibri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georg</cp:lastModifiedBy>
  <cp:revision>4</cp:revision>
  <dcterms:created xsi:type="dcterms:W3CDTF">2026-10-23T08:39:54Z</dcterms:created>
  <dcterms:modified xsi:type="dcterms:W3CDTF">2026-10-23T18:12:22Z</dcterms:modified>
</cp:coreProperties>
</file>